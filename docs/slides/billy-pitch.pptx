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2f36d3ebb045c5" /><Relationship Type="http://schemas.openxmlformats.org/officeDocument/2006/relationships/extended-properties" Target="/docProps/app.xml" Id="Rc50da6dca1cf4e10" /><Relationship Type="http://schemas.openxmlformats.org/officeDocument/2006/relationships/officeDocument" Target="/ppt/presentation.xml" Id="R7e9d5a9a643a4c65" /></Relationships>
</file>

<file path=ppt/presentation.xml><?xml version="1.0" encoding="utf-8"?>
<p:presentation xmlns:p="http://schemas.openxmlformats.org/presentationml/2006/main">
  <p:sldMasterIdLst>
    <p:sldMasterId xmlns:r="http://schemas.openxmlformats.org/officeDocument/2006/relationships" id="2147483648" r:id="Rb3f7b11c80f84949"/>
  </p:sldMasterIdLst>
  <p:notesMasterIdLst>
    <p:notesMasterId xmlns:r="http://schemas.openxmlformats.org/officeDocument/2006/relationships" r:id="Rd1681514f25b468f"/>
  </p:notesMasterIdLst>
  <p:sldIdLst>
    <p:sldId xmlns:r="http://schemas.openxmlformats.org/officeDocument/2006/relationships" id="256" r:id="R9ab217c8bbd5479d"/>
    <p:sldId xmlns:r="http://schemas.openxmlformats.org/officeDocument/2006/relationships" id="257" r:id="R3807b19e2a8649e3"/>
    <p:sldId xmlns:r="http://schemas.openxmlformats.org/officeDocument/2006/relationships" id="258" r:id="R18af5500fff948e9"/>
    <p:sldId xmlns:r="http://schemas.openxmlformats.org/officeDocument/2006/relationships" id="259" r:id="Ra84b7320c1ed4423"/>
    <p:sldId xmlns:r="http://schemas.openxmlformats.org/officeDocument/2006/relationships" id="260" r:id="R67a85195a5874bce"/>
    <p:sldId xmlns:r="http://schemas.openxmlformats.org/officeDocument/2006/relationships" id="261" r:id="R099f7c8b8e514dc5"/>
    <p:sldId xmlns:r="http://schemas.openxmlformats.org/officeDocument/2006/relationships" id="262" r:id="Rf948d4cc2f5e40cd"/>
    <p:sldId xmlns:r="http://schemas.openxmlformats.org/officeDocument/2006/relationships" id="263" r:id="R60ac672973b54536"/>
    <p:sldId xmlns:r="http://schemas.openxmlformats.org/officeDocument/2006/relationships" id="264" r:id="R8d3decd902b246a3"/>
    <p:sldId xmlns:r="http://schemas.openxmlformats.org/officeDocument/2006/relationships" id="265" r:id="R023ffddcbea64e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fa8683f7d04ada" /><Relationship Type="http://schemas.openxmlformats.org/officeDocument/2006/relationships/slideMaster" Target="/ppt/slideMasters/slideMaster1.xml" Id="Rb3f7b11c80f84949" /><Relationship Type="http://schemas.openxmlformats.org/officeDocument/2006/relationships/notesMaster" Target="/ppt/notesMasters/notesMaster1.xml" Id="Rd1681514f25b468f" /><Relationship Type="http://schemas.openxmlformats.org/officeDocument/2006/relationships/presProps" Target="/ppt/presProps.xml" Id="Rfdb3c045a89948a9" /><Relationship Type="http://schemas.openxmlformats.org/officeDocument/2006/relationships/tableStyles" Target="/ppt/tableStyles.xml" Id="R83deb9d60a8b4e35" /><Relationship Type="http://schemas.openxmlformats.org/officeDocument/2006/relationships/slide" Target="/ppt/slides/slide1.xml" Id="R9ab217c8bbd5479d" /><Relationship Type="http://schemas.openxmlformats.org/officeDocument/2006/relationships/slide" Target="/ppt/slides/slide2.xml" Id="R3807b19e2a8649e3" /><Relationship Type="http://schemas.openxmlformats.org/officeDocument/2006/relationships/slide" Target="/ppt/slides/slide3.xml" Id="R18af5500fff948e9" /><Relationship Type="http://schemas.openxmlformats.org/officeDocument/2006/relationships/slide" Target="/ppt/slides/slide4.xml" Id="Ra84b7320c1ed4423" /><Relationship Type="http://schemas.openxmlformats.org/officeDocument/2006/relationships/slide" Target="/ppt/slides/slide5.xml" Id="R67a85195a5874bce" /><Relationship Type="http://schemas.openxmlformats.org/officeDocument/2006/relationships/slide" Target="/ppt/slides/slide6.xml" Id="R099f7c8b8e514dc5" /><Relationship Type="http://schemas.openxmlformats.org/officeDocument/2006/relationships/slide" Target="/ppt/slides/slide7.xml" Id="Rf948d4cc2f5e40cd" /><Relationship Type="http://schemas.openxmlformats.org/officeDocument/2006/relationships/slide" Target="/ppt/slides/slide8.xml" Id="R60ac672973b54536" /><Relationship Type="http://schemas.openxmlformats.org/officeDocument/2006/relationships/slide" Target="/ppt/slides/slide9.xml" Id="R8d3decd902b246a3" /><Relationship Type="http://schemas.openxmlformats.org/officeDocument/2006/relationships/slide" Target="/ppt/slides/slide10.xml" Id="R023ffddcbea64e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ee5c5a479940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illy">
      <a:dk1>
        <a:srgbClr val="141413"/>
      </a:dk1>
      <a:lt1>
        <a:srgbClr val="FAFAF8"/>
      </a:lt1>
      <a:dk2>
        <a:srgbClr val="5F5F5A"/>
      </a:dk2>
      <a:lt2>
        <a:srgbClr val="F3F3F1"/>
      </a:lt2>
      <a:accent1>
        <a:srgbClr val="C2401F"/>
      </a:accent1>
      <a:accent2>
        <a:srgbClr val="141413"/>
      </a:accent2>
      <a:accent3>
        <a:srgbClr val="5F5F5A"/>
      </a:accent3>
      <a:accent4>
        <a:srgbClr val="E9E9E5"/>
      </a:accent4>
      <a:accent5>
        <a:srgbClr val="F6E3DC"/>
      </a:accent5>
      <a:accent6>
        <a:srgbClr val="DCDCD7"/>
      </a:accent6>
      <a:hlink>
        <a:srgbClr val="FAFAF8"/>
      </a:hlink>
      <a:folHlink>
        <a:srgbClr val="FAFAF8"/>
      </a:folHlink>
    </a:clrScheme>
    <a:fontScheme name="">
      <a:majorFont>
        <a:latin typeface="Arial"/>
        <a:ea typeface=""/>
        <a:cs typeface=""/>
      </a:majorFont>
      <a:minorFont>
        <a:latin typeface="Arial"/>
        <a:ea typeface=""/>
        <a:cs typeface=""/>
      </a:minorFont>
    </a:fontScheme>
    <a:fmtScheme name="Bill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c5d117896642ac" /><Relationship Type="http://schemas.openxmlformats.org/officeDocument/2006/relationships/notesMaster" Target="/ppt/notesMasters/notesMaster1.xml" Id="R934347af58a141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301619d65b478e" /><Relationship Type="http://schemas.openxmlformats.org/officeDocument/2006/relationships/notesMaster" Target="/ppt/notesMasters/notesMaster1.xml" Id="R4a5afeae6c724d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6fdc3e415e4794" /><Relationship Type="http://schemas.openxmlformats.org/officeDocument/2006/relationships/notesMaster" Target="/ppt/notesMasters/notesMaster1.xml" Id="R75aa897595824f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5d088c091b4241" /><Relationship Type="http://schemas.openxmlformats.org/officeDocument/2006/relationships/notesMaster" Target="/ppt/notesMasters/notesMaster1.xml" Id="R096d36914de446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ba8ab6959e4eec" /><Relationship Type="http://schemas.openxmlformats.org/officeDocument/2006/relationships/notesMaster" Target="/ppt/notesMasters/notesMaster1.xml" Id="Rcd9a1a84656348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1e0cab6c3b4854" /><Relationship Type="http://schemas.openxmlformats.org/officeDocument/2006/relationships/notesMaster" Target="/ppt/notesMasters/notesMaster1.xml" Id="Ra30a37dc47a546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6d742fdaa84d1d" /><Relationship Type="http://schemas.openxmlformats.org/officeDocument/2006/relationships/notesMaster" Target="/ppt/notesMasters/notesMaster1.xml" Id="Rbdd150cab73e4c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5192bdf588445c" /><Relationship Type="http://schemas.openxmlformats.org/officeDocument/2006/relationships/notesMaster" Target="/ppt/notesMasters/notesMaster1.xml" Id="Rd5dc86dc42b748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533f31999d4c45" /><Relationship Type="http://schemas.openxmlformats.org/officeDocument/2006/relationships/notesMaster" Target="/ppt/notesMasters/notesMaster1.xml" Id="R749acf981a8446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466335d8a74519" /><Relationship Type="http://schemas.openxmlformats.org/officeDocument/2006/relationships/notesMaster" Target="/ppt/notesMasters/notesMaster1.xml" Id="Rcd1c0601a4284f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Billy is a working virtual try-on prototype for pre-loved and surplus clothing, built for SDG 12, Challenge Statement 2. The shopper brings one photo and Billy generates a visual preview from a garment photo. Introduce the product, then move straight into the shopping problem. The model and result on this slide are AI-generated demo assets.</a:t>
            </a:r>
          </a:p>
          <a:p xmlns:a="http://schemas.openxmlformats.org/drawingml/2006/main">
            <a:r>
              <a:t/>
            </a:r>
          </a:p>
          <a:p xmlns:a="http://schemas.openxmlformats.org/drawingml/2006/main">
            <a:r>
              <a:t>Sources and assets:</a:t>
            </a:r>
          </a:p>
          <a:p xmlns:a="http://schemas.openxmlformats.org/drawingml/2006/main">
            <a:r>
              <a:t>README.md</a:t>
            </a:r>
          </a:p>
          <a:p xmlns:a="http://schemas.openxmlformats.org/drawingml/2006/main">
            <a:r>
              <a:t>web/app/page.tsx</a:t>
            </a:r>
          </a:p>
          <a:p xmlns:a="http://schemas.openxmlformats.org/drawingml/2006/main">
            <a:r>
              <a:t>web/public/looks/mei-black-blazer.jpg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hypothesis is that a visual preview can help a shopper decide whether a garment suits them. A listing photo shows the item, while the shopper still has to imagine it on their own body. Billy focuses its demo feed on second-hand pieces and unsold retailer stock. This is a problem framing, not a measured claim about buyer behaviour. The garment shown is an AI-generated demo listing.</a:t>
            </a:r>
          </a:p>
          <a:p xmlns:a="http://schemas.openxmlformats.org/drawingml/2006/main">
            <a:r>
              <a:t/>
            </a:r>
          </a:p>
          <a:p xmlns:a="http://schemas.openxmlformats.org/drawingml/2006/main">
            <a:r>
              <a:t>Sources and assets:</a:t>
            </a:r>
          </a:p>
          <a:p xmlns:a="http://schemas.openxmlformats.org/drawingml/2006/main">
            <a:r>
              <a:t>README.md</a:t>
            </a:r>
          </a:p>
          <a:p xmlns:a="http://schemas.openxmlformats.org/drawingml/2006/main">
            <a:r>
              <a:t>web/lib/catalogue.ts</a:t>
            </a:r>
          </a:p>
          <a:p xmlns:a="http://schemas.openxmlformats.org/drawingml/2006/main">
            <a:r>
              <a:t>web/public/catalogue/denim-trucker.jpg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complete core flow. First, add a full-length photo. Second, choose a garment from a listing, the demo feed or an upload. Third, generate the preview. The example uses Arjun and the 90s colour-block windbreaker. The original, garment and result are AI-generated assets already used by the product. The preview represents appearance and does not verify sizing or physical fit. The shopper should confirm measurements and condition with the seller.</a:t>
            </a:r>
          </a:p>
          <a:p xmlns:a="http://schemas.openxmlformats.org/drawingml/2006/main">
            <a:r>
              <a:t/>
            </a:r>
          </a:p>
          <a:p xmlns:a="http://schemas.openxmlformats.org/drawingml/2006/main">
            <a:r>
              <a:t>Sources and assets:</a:t>
            </a:r>
          </a:p>
          <a:p xmlns:a="http://schemas.openxmlformats.org/drawingml/2006/main">
            <a:r>
              <a:t>web/app/page.tsx</a:t>
            </a:r>
          </a:p>
          <a:p xmlns:a="http://schemas.openxmlformats.org/drawingml/2006/main">
            <a:r>
              <a:t>web/components/studio/Studio.tsx</a:t>
            </a:r>
          </a:p>
          <a:p xmlns:a="http://schemas.openxmlformats.org/drawingml/2006/main">
            <a:r>
              <a:t>web/public/models/arjun.jpg</a:t>
            </a:r>
          </a:p>
          <a:p xmlns:a="http://schemas.openxmlformats.org/drawingml/2006/main">
            <a:r>
              <a:t>web/public/catalogue/windbreaker-90s.jpg</a:t>
            </a:r>
          </a:p>
          <a:p xmlns:a="http://schemas.openxmlformats.org/drawingml/2006/main">
            <a:r>
              <a:t>web/public/looks/arjun-windbreaker-90s.jpg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Chrome extension adds a Try on control to product photos. A shopper can also drag a garment onto the in-page target or into the side panel. Billy shows the result on the shop page, with options to compare to the original and save the look. This screenshot comes from the repository’s extension test fixture, a mock resale shop. The store, seller and price are demo content. A successful capture demonstrates the implemented UI, not compatibility with every retail site. Chrome host permissions and website restrictions can affect availability.</a:t>
            </a:r>
          </a:p>
          <a:p xmlns:a="http://schemas.openxmlformats.org/drawingml/2006/main">
            <a:r>
              <a:t/>
            </a:r>
          </a:p>
          <a:p xmlns:a="http://schemas.openxmlformats.org/drawingml/2006/main">
            <a:r>
              <a:t>Sources and assets:</a:t>
            </a:r>
          </a:p>
          <a:p xmlns:a="http://schemas.openxmlformats.org/drawingml/2006/main">
            <a:r>
              <a:t>extension/content.js</a:t>
            </a:r>
          </a:p>
          <a:p xmlns:a="http://schemas.openxmlformats.org/drawingml/2006/main">
            <a:r>
              <a:t>extension/background.js</a:t>
            </a:r>
          </a:p>
          <a:p xmlns:a="http://schemas.openxmlformats.org/drawingml/2006/main">
            <a:r>
              <a:t>tests/screenshots/ext-7-result.png</a:t>
            </a:r>
          </a:p>
          <a:p xmlns:a="http://schemas.openxmlformats.org/drawingml/2006/main">
            <a:r>
              <a:t>tests/fixtures/shop.html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ÉTAGE is a fictional retailer demo that shows Billy embedded in a shop. The orange Try it on button opens Billy’s drawer. The drawer asks for the shopper’s photo once, generates a preview and hands Add to bag back to the store. Wear it with can layer a matching piece over the current look. Once a shopper tries an item, the product card and gallery can show their own preview. The bag works locally, but checkout is disabled. This is an integration demonstration, not a live retailer partnership or a commerce launch. The screenshot shows the live demo product page on 10 October 2026, with AI-generated model and garment imagery.</a:t>
            </a:r>
          </a:p>
          <a:p xmlns:a="http://schemas.openxmlformats.org/drawingml/2006/main">
            <a:r>
              <a:t/>
            </a:r>
          </a:p>
          <a:p xmlns:a="http://schemas.openxmlformats.org/drawingml/2006/main">
            <a:r>
              <a:t>Sources and assets:</a:t>
            </a:r>
          </a:p>
          <a:p xmlns:a="http://schemas.openxmlformats.org/drawingml/2006/main">
            <a:r>
              <a:t>README.md (Demo store)</a:t>
            </a:r>
          </a:p>
          <a:p xmlns:a="http://schemas.openxmlformats.org/drawingml/2006/main">
            <a:r>
              <a:t>web/components/shop/TryOnDrawer.tsx</a:t>
            </a:r>
          </a:p>
          <a:p xmlns:a="http://schemas.openxmlformats.org/drawingml/2006/main">
            <a:r>
              <a:t>web/components/shop/ShopProvider.tsx</a:t>
            </a:r>
          </a:p>
          <a:p xmlns:a="http://schemas.openxmlformats.org/drawingml/2006/main">
            <a:r>
              <a:t>web/components/shop/ProductGallery.tsx</a:t>
            </a:r>
          </a:p>
          <a:p xmlns:a="http://schemas.openxmlformats.org/drawingml/2006/main">
            <a:r>
              <a:t>https://billy-try-on.vercel.app/shop/sage-slip-dress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Billy stores saved looks locally. Each look can carry a Would buy, Maybe or Wouldn’t buy verdict. In the web Studio, selecting two saved looks opens the side-by-side view shown here. The original-photo comparison also uses a draggable before-and-after slider. This is a live Studio capture using pre-existing demo images, with example verdicts entered solely for the demonstration. They are not user research results. The product does not currently export verdicts or record purchase outcomes.</a:t>
            </a:r>
          </a:p>
          <a:p xmlns:a="http://schemas.openxmlformats.org/drawingml/2006/main">
            <a:r>
              <a:t/>
            </a:r>
          </a:p>
          <a:p xmlns:a="http://schemas.openxmlformats.org/drawingml/2006/main">
            <a:r>
              <a:t>Sources and assets:</a:t>
            </a:r>
          </a:p>
          <a:p xmlns:a="http://schemas.openxmlformats.org/drawingml/2006/main">
            <a:r>
              <a:t>web/components/studio/LooksShelf.tsx</a:t>
            </a:r>
          </a:p>
          <a:p xmlns:a="http://schemas.openxmlformats.org/drawingml/2006/main">
            <a:r>
              <a:t>web/components/studio/CompareSlider.tsx</a:t>
            </a:r>
          </a:p>
          <a:p xmlns:a="http://schemas.openxmlformats.org/drawingml/2006/main">
            <a:r>
              <a:t>web/lib/client/store.ts</a:t>
            </a:r>
          </a:p>
          <a:p xmlns:a="http://schemas.openxmlformats.org/drawingml/2006/main">
            <a:r>
              <a:t>https://billy-try-on.vercel.app/studio</a:t>
            </a:r>
          </a:p>
          <a:p xmlns:a="http://schemas.openxmlformats.org/drawingml/2006/main">
            <a:r>
              <a:t>Live Studio capture on 10 October 2026 using AI-generated demo looks and example verdicts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United Nations defines SDG 12 as responsible consumption and production. Target 12.5 includes reducing waste through prevention, reduction, recycling and reuse. Billy’s proposed contribution is to make pre-loved and surplus garments easier to evaluate before purchasing. The connection is a product hypothesis. Billy has not measured reuse, returns, waste reduction or emissions. A shopper choosing to buy less is also a valid outcome. A later impact study would need verified purchase and reuse outcomes, including whether a pre-loved purchase replaces a newly produced item.</a:t>
            </a:r>
          </a:p>
          <a:p xmlns:a="http://schemas.openxmlformats.org/drawingml/2006/main">
            <a:r>
              <a:t/>
            </a:r>
          </a:p>
          <a:p xmlns:a="http://schemas.openxmlformats.org/drawingml/2006/main">
            <a:r>
              <a:t>Sources and assets:</a:t>
            </a:r>
          </a:p>
          <a:p xmlns:a="http://schemas.openxmlformats.org/drawingml/2006/main">
            <a:r>
              <a:t>https://sdgs.un.org/goals/goal12 (target 12.5, accessed 10 October 2026)</a:t>
            </a:r>
          </a:p>
          <a:p xmlns:a="http://schemas.openxmlformats.org/drawingml/2006/main">
            <a:r>
              <a:t>README.md</a:t>
            </a:r>
          </a:p>
          <a:p xmlns:a="http://schemas.openxmlformats.org/drawingml/2006/main">
            <a:r>
              <a:t>web/lib/catalogue.ts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main branch includes a web Studio, a Chrome Manifest V3 extension and the ÉTAGE demo store. Quick and Detailed rendering use OpenAI, with partial previews where the provider returns them. Keep it on reuses a finished preview as the base for the next garment so shoppers can layer an outfit. Saved looks support verdicts, side-by-side comparison and sharing through the system share sheet or clipboard. A live mirror implementation uses Decart with short-lived tokens and capped sessions. The deployed mirror is off, and the README records that a real Decart session has not been tested. Gemini is also wired up but untested. Personal photos and saved looks persist in browser storage. The browser strips EXIF data when normalising a photo, then sends the photo and garment to the server and image provider during generation. The application does not persist those images on its server, but provider handling is separate. Known readiness limits: the public endpoint incurs provider costs, per-IP limits are in memory, the remote-image guard checks hostnames rather than resolved IPs, and the extension requests all-URL access. The catalogue, sellers, prices and models are fictional demo content. Visual previews do not verify physical fit.</a:t>
            </a:r>
          </a:p>
          <a:p xmlns:a="http://schemas.openxmlformats.org/drawingml/2006/main">
            <a:r>
              <a:t/>
            </a:r>
          </a:p>
          <a:p xmlns:a="http://schemas.openxmlformats.org/drawingml/2006/main">
            <a:r>
              <a:t>Sources and assets:</a:t>
            </a:r>
          </a:p>
          <a:p xmlns:a="http://schemas.openxmlformats.org/drawingml/2006/main">
            <a:r>
              <a:t>README.md</a:t>
            </a:r>
          </a:p>
          <a:p xmlns:a="http://schemas.openxmlformats.org/drawingml/2006/main">
            <a:r>
              <a:t>web/app/api/try-on/route.ts</a:t>
            </a:r>
          </a:p>
          <a:p xmlns:a="http://schemas.openxmlformats.org/drawingml/2006/main">
            <a:r>
              <a:t>web/lib/client/images.ts</a:t>
            </a:r>
          </a:p>
          <a:p xmlns:a="http://schemas.openxmlformats.org/drawingml/2006/main">
            <a:r>
              <a:t>web/components/studio/Studio.tsx</a:t>
            </a:r>
          </a:p>
          <a:p xmlns:a="http://schemas.openxmlformats.org/drawingml/2006/main">
            <a:r>
              <a:t>web/components/shop/TryOnDrawer.tsx</a:t>
            </a:r>
          </a:p>
          <a:p xmlns:a="http://schemas.openxmlformats.org/drawingml/2006/main">
            <a:r>
              <a:t>web/components/mirror/Mirror.tsx</a:t>
            </a:r>
          </a:p>
          <a:p xmlns:a="http://schemas.openxmlformats.org/drawingml/2006/main">
            <a:r>
              <a:t>web/app/api/mirror/token/route.ts</a:t>
            </a:r>
          </a:p>
          <a:p xmlns:a="http://schemas.openxmlformats.org/drawingml/2006/main">
            <a:r>
              <a:t>extension/manifest.json</a:t>
            </a:r>
          </a:p>
          <a:p xmlns:a="http://schemas.openxmlformats.org/drawingml/2006/main">
            <a:r>
              <a:t>tests/screenshots/ext-2-panel-ready.png</a:t>
            </a:r>
          </a:p>
          <a:p xmlns:a="http://schemas.openxmlformats.org/drawingml/2006/main">
            <a:r>
              <a:t>https://billy-try-on.vercel.app/mirror (off on 10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small pilot, not a completed study. Recruit twelve people who already shop for pre-loved clothing and let each assess three garments. For each garment, collect a confidence rating from one to five and a Would buy, Maybe or Wouldn’t buy verdict. Compare a listing-only view with a listing plus Billy preview, counterbalancing the order to reduce the effect of seeing the item twice. Record generation time, failures and decision time. Keep the seller’s measurements and condition information available in both views. Include whether the output misrepresents the garment. The small sample can identify usability problems and directional changes, but it cannot establish environmental savings or population-wide effects. Record observations manually because verdict export and research analytics are not yet implemented. Follow up on purchases separately before claiming reuse outcomes.</a:t>
            </a:r>
          </a:p>
          <a:p xmlns:a="http://schemas.openxmlformats.org/drawingml/2006/main">
            <a:r>
              <a:t/>
            </a:r>
          </a:p>
          <a:p xmlns:a="http://schemas.openxmlformats.org/drawingml/2006/main">
            <a:r>
              <a:t>Sources and assets:</a:t>
            </a:r>
          </a:p>
          <a:p xmlns:a="http://schemas.openxmlformats.org/drawingml/2006/main">
            <a:r>
              <a:t>Proposed pilot design for this pitch. No customer or impact results are available.</a:t>
            </a:r>
          </a:p>
          <a:p xmlns:a="http://schemas.openxmlformats.org/drawingml/2006/main">
            <a:r>
              <a:t>README.md (verdict export listed as a next step)</a:t>
            </a:r>
          </a:p>
          <a:p xmlns:a="http://schemas.openxmlformats.org/drawingml/2006/main">
            <a:r>
              <a:t>web/lib/client/store.ts (current verdict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Studio link for the live demo. Choose the example Arjun or Mei model, select a garment from the demo feed, generate a look, save it and record a verdict. Keep it on can add another garment over the current outfit. Save a second look and compare them side by side. Show the ÉTAGE store to demonstrate the retailer flow, including the Billy drawer and local bag. Its checkout is disabled. Allow for provider latency and a possible rate-limit or provider error. Each live generation can incur API costs. The extension page contains the downloadable unpacked extension and installation instructions. Have the deck’s existing previews available as a fallback if live generation fails. The optional live mirror is off on the live site and still needs a real Decart test. Close with the proposed next step: test the product with real shoppers and connect real seller listings. These partnerships and the purchase-confidence study are future work.</a:t>
            </a:r>
          </a:p>
          <a:p xmlns:a="http://schemas.openxmlformats.org/drawingml/2006/main">
            <a:r>
              <a:t/>
            </a:r>
          </a:p>
          <a:p xmlns:a="http://schemas.openxmlformats.org/drawingml/2006/main">
            <a:r>
              <a:t>Sources and assets:</a:t>
            </a:r>
          </a:p>
          <a:p xmlns:a="http://schemas.openxmlformats.org/drawingml/2006/main">
            <a:r>
              <a:t>https://billy-try-on.vercel.app/studio</a:t>
            </a:r>
          </a:p>
          <a:p xmlns:a="http://schemas.openxmlformats.org/drawingml/2006/main">
            <a:r>
              <a:t>https://billy-try-on.vercel.app/shop</a:t>
            </a:r>
          </a:p>
          <a:p xmlns:a="http://schemas.openxmlformats.org/drawingml/2006/main">
            <a:r>
              <a:t>https://billy-try-on.vercel.app/extension</a:t>
            </a:r>
          </a:p>
          <a:p xmlns:a="http://schemas.openxmlformats.org/drawingml/2006/main">
            <a:r>
              <a:t>README.md</a:t>
            </a:r>
          </a:p>
          <a:p xmlns:a="http://schemas.openxmlformats.org/drawingml/2006/main">
            <a:r>
              <a:t>web/public/looks/mei-denim-trucker.jpg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b55c5a298341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6309ddd24e43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103737b7cb44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907dc0e73944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50af76772942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efd065d7d049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FD052D-053E-43DB-8AB8-49A8E25BEC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1E948A-9A50-4C21-B5CF-D6F036B7D7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4D334A-D93E-4E12-8E03-2E07AC1870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0C0196-F6AD-40C5-A273-2FF9EF3A67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0F47EC-BE6B-41D8-8E16-C0F4545B08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E1D6E9-17E9-46E5-BE50-6F7347A2C1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362F52-6171-4578-BAE6-F9DB87B73C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DFDAD3-8A65-4A27-B344-0910E682D9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B31720-DF2A-406C-B5CD-E23433C1B9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5B99F8-EE88-495D-AC8D-F1C2325860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664ac3f8104c6d" /><Relationship Type="http://schemas.openxmlformats.org/officeDocument/2006/relationships/slideLayout" Target="/ppt/slideLayouts/slideLayout1.xml" Id="R7e0297a30544475d" /><Relationship Type="http://schemas.openxmlformats.org/officeDocument/2006/relationships/slideLayout" Target="/ppt/slideLayouts/slideLayout2.xml" Id="R994fe13aeee64316" /><Relationship Type="http://schemas.openxmlformats.org/officeDocument/2006/relationships/slideLayout" Target="/ppt/slideLayouts/slideLayout3.xml" Id="R145c7b281eaa43fb" /><Relationship Type="http://schemas.openxmlformats.org/officeDocument/2006/relationships/slideLayout" Target="/ppt/slideLayouts/slideLayout4.xml" Id="Rb9def3434f204be0" /><Relationship Type="http://schemas.openxmlformats.org/officeDocument/2006/relationships/slideLayout" Target="/ppt/slideLayouts/slideLayout5.xml" Id="R4286a47f10bd440d" /><Relationship Type="http://schemas.openxmlformats.org/officeDocument/2006/relationships/slideLayout" Target="/ppt/slideLayouts/slideLayout6.xml" Id="R470ab97283a048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0297a30544475d"/>
    <p:sldLayoutId xmlns:r="http://schemas.openxmlformats.org/officeDocument/2006/relationships" id="2147483650" r:id="R994fe13aeee64316"/>
    <p:sldLayoutId xmlns:r="http://schemas.openxmlformats.org/officeDocument/2006/relationships" id="2147483651" r:id="R145c7b281eaa43fb"/>
    <p:sldLayoutId xmlns:r="http://schemas.openxmlformats.org/officeDocument/2006/relationships" id="2147483652" r:id="Rb9def3434f204be0"/>
    <p:sldLayoutId xmlns:r="http://schemas.openxmlformats.org/officeDocument/2006/relationships" id="2147483653" r:id="R4286a47f10bd440d"/>
    <p:sldLayoutId xmlns:r="http://schemas.openxmlformats.org/officeDocument/2006/relationships" id="2147483654" r:id="R470ab97283a048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illy">
      <a:dk1>
        <a:srgbClr val="141413"/>
      </a:dk1>
      <a:lt1>
        <a:srgbClr val="FAFAF8"/>
      </a:lt1>
      <a:dk2>
        <a:srgbClr val="5F5F5A"/>
      </a:dk2>
      <a:lt2>
        <a:srgbClr val="F3F3F1"/>
      </a:lt2>
      <a:accent1>
        <a:srgbClr val="C2401F"/>
      </a:accent1>
      <a:accent2>
        <a:srgbClr val="141413"/>
      </a:accent2>
      <a:accent3>
        <a:srgbClr val="5F5F5A"/>
      </a:accent3>
      <a:accent4>
        <a:srgbClr val="E9E9E5"/>
      </a:accent4>
      <a:accent5>
        <a:srgbClr val="F6E3DC"/>
      </a:accent5>
      <a:accent6>
        <a:srgbClr val="DCDCD7"/>
      </a:accent6>
      <a:hlink>
        <a:srgbClr val="FAFAF8"/>
      </a:hlink>
      <a:folHlink>
        <a:srgbClr val="FAFAF8"/>
      </a:folHlink>
    </a:clrScheme>
    <a:fontScheme name="">
      <a:majorFont>
        <a:latin typeface="Arial"/>
        <a:ea typeface=""/>
        <a:cs typeface=""/>
      </a:majorFont>
      <a:minorFont>
        <a:latin typeface="Arial"/>
        <a:ea typeface=""/>
        <a:cs typeface=""/>
      </a:minorFont>
    </a:fontScheme>
    <a:fmtScheme name="Bill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95c03bff7644ab" /><Relationship Type="http://schemas.openxmlformats.org/officeDocument/2006/relationships/image" Target="/ppt/media/image.jpeg" Id="R386cf1634fc049f1" /><Relationship Type="http://schemas.openxmlformats.org/officeDocument/2006/relationships/notesSlide" Target="/ppt/notesSlides/notesSlide1.xml" Id="R30905f7847d74f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f75c32168c4a7f" /><Relationship Type="http://schemas.openxmlformats.org/officeDocument/2006/relationships/image" Target="/ppt/media/image2.jpeg" Id="R95ff0983b52f421f" /><Relationship Type="http://schemas.openxmlformats.org/officeDocument/2006/relationships/notesSlide" Target="/ppt/notesSlides/notesSlide2.xml" Id="Ra60a9283c4af49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f54f0532d44b43" /><Relationship Type="http://schemas.openxmlformats.org/officeDocument/2006/relationships/image" Target="/ppt/media/image3.jpeg" Id="R07b0fdeafc4d40ac" /><Relationship Type="http://schemas.openxmlformats.org/officeDocument/2006/relationships/image" Target="/ppt/media/image4.jpeg" Id="R5fdfab5801ef4eec" /><Relationship Type="http://schemas.openxmlformats.org/officeDocument/2006/relationships/image" Target="/ppt/media/image5.jpeg" Id="Rc3c559829a274592" /><Relationship Type="http://schemas.openxmlformats.org/officeDocument/2006/relationships/notesSlide" Target="/ppt/notesSlides/notesSlide3.xml" Id="Rfd1b33b50dcb47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d26b5c97c1458d" /><Relationship Type="http://schemas.openxmlformats.org/officeDocument/2006/relationships/image" Target="/ppt/media/image.png" Id="R8ecf68811d914dc1" /><Relationship Type="http://schemas.openxmlformats.org/officeDocument/2006/relationships/notesSlide" Target="/ppt/notesSlides/notesSlide4.xml" Id="R9b7213819e6443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6f47ddabca4b6d" /><Relationship Type="http://schemas.openxmlformats.org/officeDocument/2006/relationships/image" Target="/ppt/media/image2.png" Id="Ra0a3fe5b48e84362" /><Relationship Type="http://schemas.openxmlformats.org/officeDocument/2006/relationships/notesSlide" Target="/ppt/notesSlides/notesSlide5.xml" Id="R8fa9185bf89048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4845ef76c14d62" /><Relationship Type="http://schemas.openxmlformats.org/officeDocument/2006/relationships/image" Target="/ppt/media/image3.png" Id="R109fb01edced4f29" /><Relationship Type="http://schemas.openxmlformats.org/officeDocument/2006/relationships/notesSlide" Target="/ppt/notesSlides/notesSlide6.xml" Id="R69d34b82c3f844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2ceddc4a844520" /><Relationship Type="http://schemas.openxmlformats.org/officeDocument/2006/relationships/notesSlide" Target="/ppt/notesSlides/notesSlide7.xml" Id="R070fece2c6534c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3f6be55e9f43b1" /><Relationship Type="http://schemas.openxmlformats.org/officeDocument/2006/relationships/image" Target="/ppt/media/image4.png" Id="R40b8be8bf354447d" /><Relationship Type="http://schemas.openxmlformats.org/officeDocument/2006/relationships/notesSlide" Target="/ppt/notesSlides/notesSlide8.xml" Id="R1f785e521f084a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d615c4a84a416e" /><Relationship Type="http://schemas.openxmlformats.org/officeDocument/2006/relationships/notesSlide" Target="/ppt/notesSlides/notesSlide9.xml" Id="R38f315e212a044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b10ea027384d0e" /><Relationship Type="http://schemas.openxmlformats.org/officeDocument/2006/relationships/hyperlink" Target="https://billy-try-on.vercel.app/studio" TargetMode="External" Id="Rc6cbc143b29644c2" /><Relationship Type="http://schemas.openxmlformats.org/officeDocument/2006/relationships/hyperlink" Target="https://billy-try-on.vercel.app/shop" TargetMode="External" Id="R5fd8452c61834fc3" /><Relationship Type="http://schemas.openxmlformats.org/officeDocument/2006/relationships/hyperlink" Target="https://billy-try-on.vercel.app/extension" TargetMode="External" Id="Ra240f9cc475a42d4" /><Relationship Type="http://schemas.openxmlformats.org/officeDocument/2006/relationships/image" Target="/ppt/media/image6.jpeg" Id="R7eeeb0437f574e28" /><Relationship Type="http://schemas.openxmlformats.org/officeDocument/2006/relationships/notesSlide" Target="/ppt/notesSlides/notesSlide10.xml" Id="R6fa2ffcfb1b14298" /></Relationships>
</file>

<file path=ppt/slides/slide1.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6" name="billy">
            <a:extLst xmlns:a="http://schemas.openxmlformats.org/drawingml/2006/main">
              <a:ext uri="{FF2B5EF4-FFF2-40B4-BE49-F238E27FC236}">
                <a16:creationId xmlns:a16="http://schemas.microsoft.com/office/drawing/2014/main" id="{24A3E8B5-2FC1-488D-8146-EEC2A16430A7}"/>
              </a:ext>
            </a:extLst>
          </p:cNvPr>
          <p:cNvSpPr>
            <a:spLocks xmlns:a="http://schemas.openxmlformats.org/drawingml/2006/main" noGrp="1"/>
          </p:cNvSpPr>
          <p:nvPr/>
        </p:nvSpPr>
        <p:spPr>
          <a:xfrm xmlns:a="http://schemas.openxmlformats.org/drawingml/2006/main">
            <a:off x="685800" y="1428750"/>
            <a:ext cx="5238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150" b="1">
                <a:solidFill>
                  <a:srgbClr val="C2401F"/>
                </a:solidFill>
                <a:latin typeface="Arial"/>
                <a:ea typeface="Arial"/>
                <a:cs typeface="Arial"/>
              </a:defRPr>
            </a:defPPr>
          </a:lstStyle>
          <a:p xmlns:a="http://schemas.openxmlformats.org/drawingml/2006/main">
            <a:pPr>
              <a:defRPr sz="9150" b="1">
                <a:solidFill>
                  <a:srgbClr val="C2401F"/>
                </a:solidFill>
                <a:latin typeface="Arial"/>
                <a:ea typeface="Arial"/>
                <a:cs typeface="Arial"/>
              </a:defRPr>
            </a:pPr>
            <a:r>
              <a:rPr sz="9150" b="1">
                <a:solidFill>
                  <a:srgbClr val="C2401F"/>
                </a:solidFill>
                <a:latin typeface="Arial"/>
                <a:ea typeface="Arial"/>
                <a:cs typeface="Arial"/>
              </a:rPr>
              <a:t>billy</a:t>
            </a:r>
          </a:p>
        </p:txBody>
      </p:sp>
      <p:sp>
        <p:nvSpPr>
          <p:cNvPr id="2" name="Virtual try-on for">
            <a:extLst xmlns:a="http://schemas.openxmlformats.org/drawingml/2006/main">
              <a:ext uri="{FF2B5EF4-FFF2-40B4-BE49-F238E27FC236}">
                <a16:creationId xmlns:a16="http://schemas.microsoft.com/office/drawing/2014/main" id="{1C415649-C144-40D7-8EEC-7B2F86022171}"/>
              </a:ext>
            </a:extLst>
          </p:cNvPr>
          <p:cNvSpPr>
            <a:spLocks xmlns:a="http://schemas.openxmlformats.org/drawingml/2006/main" noGrp="1"/>
          </p:cNvSpPr>
          <p:nvPr/>
        </p:nvSpPr>
        <p:spPr>
          <a:xfrm xmlns:a="http://schemas.openxmlformats.org/drawingml/2006/main">
            <a:off x="723900" y="312420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1413"/>
                </a:solidFill>
                <a:latin typeface="Arial"/>
                <a:ea typeface="Arial"/>
                <a:cs typeface="Arial"/>
              </a:defRPr>
            </a:defPPr>
          </a:lstStyle>
          <a:p xmlns:a="http://schemas.openxmlformats.org/drawingml/2006/main">
            <a:pPr>
              <a:defRPr sz="3300" b="1">
                <a:solidFill>
                  <a:srgbClr val="141413"/>
                </a:solidFill>
                <a:latin typeface="Arial"/>
                <a:ea typeface="Arial"/>
                <a:cs typeface="Arial"/>
              </a:defRPr>
            </a:pPr>
            <a:r>
              <a:rPr sz="3300" b="1">
                <a:solidFill>
                  <a:srgbClr val="141413"/>
                </a:solidFill>
                <a:latin typeface="Arial"/>
                <a:ea typeface="Arial"/>
                <a:cs typeface="Arial"/>
              </a:rPr>
              <a:t>Virtual try-on for</a:t>
            </a:r>
          </a:p>
          <a:p xmlns:a="http://schemas.openxmlformats.org/drawingml/2006/main">
            <a:pPr>
              <a:defRPr sz="3300" b="1">
                <a:solidFill>
                  <a:srgbClr val="141413"/>
                </a:solidFill>
                <a:latin typeface="Arial"/>
                <a:ea typeface="Arial"/>
                <a:cs typeface="Arial"/>
              </a:defRPr>
            </a:pPr>
            <a:r>
              <a:rPr sz="3300" b="1">
                <a:solidFill>
                  <a:srgbClr val="141413"/>
                </a:solidFill>
                <a:latin typeface="Arial"/>
                <a:ea typeface="Arial"/>
                <a:cs typeface="Arial"/>
              </a:rPr>
              <a:t>pre-loved clothing</a:t>
            </a:r>
          </a:p>
        </p:txBody>
      </p:sp>
      <p:sp>
        <p:nvSpPr>
          <p:cNvPr id="3" name="Product pitch and demo">
            <a:extLst xmlns:a="http://schemas.openxmlformats.org/drawingml/2006/main">
              <a:ext uri="{FF2B5EF4-FFF2-40B4-BE49-F238E27FC236}">
                <a16:creationId xmlns:a16="http://schemas.microsoft.com/office/drawing/2014/main" id="{E3FF1E30-1369-4274-97C3-38F53F723447}"/>
              </a:ext>
            </a:extLst>
          </p:cNvPr>
          <p:cNvSpPr>
            <a:spLocks xmlns:a="http://schemas.openxmlformats.org/drawingml/2006/main" noGrp="1"/>
          </p:cNvSpPr>
          <p:nvPr/>
        </p:nvSpPr>
        <p:spPr>
          <a:xfrm xmlns:a="http://schemas.openxmlformats.org/drawingml/2006/main">
            <a:off x="723900" y="50101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F5F5A"/>
                </a:solidFill>
                <a:latin typeface="Arial"/>
                <a:ea typeface="Arial"/>
                <a:cs typeface="Arial"/>
              </a:defRPr>
            </a:defPPr>
          </a:lstStyle>
          <a:p xmlns:a="http://schemas.openxmlformats.org/drawingml/2006/main">
            <a:pPr>
              <a:defRPr sz="1950" b="0">
                <a:solidFill>
                  <a:srgbClr val="5F5F5A"/>
                </a:solidFill>
                <a:latin typeface="Arial"/>
                <a:ea typeface="Arial"/>
                <a:cs typeface="Arial"/>
              </a:defRPr>
            </a:pPr>
            <a:r>
              <a:rPr sz="1950" b="0">
                <a:solidFill>
                  <a:srgbClr val="5F5F5A"/>
                </a:solidFill>
                <a:latin typeface="Arial"/>
                <a:ea typeface="Arial"/>
                <a:cs typeface="Arial"/>
              </a:rPr>
              <a:t>Product pitch and demo</a:t>
            </a:r>
          </a:p>
        </p:txBody>
      </p:sp>
      <p:sp>
        <p:nvSpPr>
          <p:cNvPr id="4" name="SDG 12 prototype">
            <a:extLst xmlns:a="http://schemas.openxmlformats.org/drawingml/2006/main">
              <a:ext uri="{FF2B5EF4-FFF2-40B4-BE49-F238E27FC236}">
                <a16:creationId xmlns:a16="http://schemas.microsoft.com/office/drawing/2014/main" id="{B9E1CAC0-DC10-4D06-9A1F-6B7B2A2E640B}"/>
              </a:ext>
            </a:extLst>
          </p:cNvPr>
          <p:cNvSpPr>
            <a:spLocks xmlns:a="http://schemas.openxmlformats.org/drawingml/2006/main" noGrp="1"/>
          </p:cNvSpPr>
          <p:nvPr/>
        </p:nvSpPr>
        <p:spPr>
          <a:xfrm xmlns:a="http://schemas.openxmlformats.org/drawingml/2006/main">
            <a:off x="723900" y="55054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F5F5A"/>
                </a:solidFill>
                <a:latin typeface="Arial"/>
                <a:ea typeface="Arial"/>
                <a:cs typeface="Arial"/>
              </a:defRPr>
            </a:defPPr>
          </a:lstStyle>
          <a:p xmlns:a="http://schemas.openxmlformats.org/drawingml/2006/main">
            <a:pPr>
              <a:defRPr sz="1725" b="0">
                <a:solidFill>
                  <a:srgbClr val="5F5F5A"/>
                </a:solidFill>
                <a:latin typeface="Arial"/>
                <a:ea typeface="Arial"/>
                <a:cs typeface="Arial"/>
              </a:defRPr>
            </a:pPr>
            <a:r>
              <a:rPr sz="1725" b="0">
                <a:solidFill>
                  <a:srgbClr val="5F5F5A"/>
                </a:solidFill>
                <a:latin typeface="Arial"/>
                <a:ea typeface="Arial"/>
                <a:cs typeface="Arial"/>
              </a:rPr>
              <a:t>SDG 12 prototype</a:t>
            </a:r>
          </a:p>
        </p:txBody>
      </p:sp>
      <p:pic>
        <p:nvPicPr>
          <p:cNvPr id="5" name="">
            <a:extLst xmlns:a="http://schemas.openxmlformats.org/drawingml/2006/main">
              <a:ext uri="{FF2B5EF4-FFF2-40B4-BE49-F238E27FC236}">
                <a16:creationId xmlns:a16="http://schemas.microsoft.com/office/drawing/2014/main" id="{21494726-C2FF-4DE6-88F3-127C272583F7}"/>
              </a:ext>
            </a:extLst>
          </p:cNvPr>
          <p:cNvPicPr>
            <a:picLocks xmlns:a="http://schemas.openxmlformats.org/drawingml/2006/main" noChangeAspect="1"/>
          </p:cNvPicPr>
          <p:nvPr/>
        </p:nvPicPr>
        <p:blipFill>
          <a:blip xmlns:r="http://schemas.openxmlformats.org/officeDocument/2006/relationships" xmlns:a="http://schemas.openxmlformats.org/drawingml/2006/main" r:embed="R386cf1634fc049f1"/>
          <a:stretch xmlns:a="http://schemas.openxmlformats.org/drawingml/2006/main"/>
        </p:blipFill>
        <p:spPr>
          <a:xfrm xmlns:a="http://schemas.openxmlformats.org/drawingml/2006/main">
            <a:off x="6878222" y="457200"/>
            <a:ext cx="4417255" cy="5981700"/>
          </a:xfrm>
          <a:prstGeom xmlns:a="http://schemas.openxmlformats.org/drawingml/2006/main" prst="rect">
            <a:avLst/>
          </a:prstGeom>
        </p:spPr>
      </p:pic>
    </p:spTree>
    <p:extLst>
      <p:ext uri="{BB962C8B-B14F-4D97-AF65-F5344CB8AC3E}">
        <p14:creationId xmlns:p14="http://schemas.microsoft.com/office/powerpoint/2010/main" val="1920799493"/>
      </p:ext>
    </p:extLst>
  </p:cSld>
</p:sld>
</file>

<file path=ppt/slides/slide2.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6" name="Choosing from">
            <a:extLst xmlns:a="http://schemas.openxmlformats.org/drawingml/2006/main">
              <a:ext uri="{FF2B5EF4-FFF2-40B4-BE49-F238E27FC236}">
                <a16:creationId xmlns:a16="http://schemas.microsoft.com/office/drawing/2014/main" id="{C323D3B1-5709-47A9-97D7-C595FA91315A}"/>
              </a:ext>
            </a:extLst>
          </p:cNvPr>
          <p:cNvSpPr>
            <a:spLocks xmlns:a="http://schemas.openxmlformats.org/drawingml/2006/main" noGrp="1"/>
          </p:cNvSpPr>
          <p:nvPr/>
        </p:nvSpPr>
        <p:spPr>
          <a:xfrm xmlns:a="http://schemas.openxmlformats.org/drawingml/2006/main">
            <a:off x="685800" y="800100"/>
            <a:ext cx="5619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41413"/>
                </a:solidFill>
                <a:latin typeface="Arial"/>
                <a:ea typeface="Arial"/>
                <a:cs typeface="Arial"/>
              </a:defRPr>
            </a:defPPr>
          </a:lstStyle>
          <a:p xmlns:a="http://schemas.openxmlformats.org/drawingml/2006/main">
            <a:pPr>
              <a:defRPr sz="3900" b="1">
                <a:solidFill>
                  <a:srgbClr val="141413"/>
                </a:solidFill>
                <a:latin typeface="Arial"/>
                <a:ea typeface="Arial"/>
                <a:cs typeface="Arial"/>
              </a:defRPr>
            </a:pPr>
            <a:r>
              <a:rPr sz="3900" b="1">
                <a:solidFill>
                  <a:srgbClr val="141413"/>
                </a:solidFill>
                <a:latin typeface="Arial"/>
                <a:ea typeface="Arial"/>
                <a:cs typeface="Arial"/>
              </a:rPr>
              <a:t>Choosing from</a:t>
            </a:r>
          </a:p>
          <a:p xmlns:a="http://schemas.openxmlformats.org/drawingml/2006/main">
            <a:pPr>
              <a:defRPr sz="3900" b="1">
                <a:solidFill>
                  <a:srgbClr val="141413"/>
                </a:solidFill>
                <a:latin typeface="Arial"/>
                <a:ea typeface="Arial"/>
                <a:cs typeface="Arial"/>
              </a:defRPr>
            </a:pPr>
            <a:r>
              <a:rPr sz="3900" b="1">
                <a:solidFill>
                  <a:srgbClr val="141413"/>
                </a:solidFill>
                <a:latin typeface="Arial"/>
                <a:ea typeface="Arial"/>
                <a:cs typeface="Arial"/>
              </a:rPr>
              <a:t>a listing</a:t>
            </a:r>
          </a:p>
        </p:txBody>
      </p:sp>
      <p:sp>
        <p:nvSpPr>
          <p:cNvPr id="2" name="A product photo shows the garment.">
            <a:extLst xmlns:a="http://schemas.openxmlformats.org/drawingml/2006/main">
              <a:ext uri="{FF2B5EF4-FFF2-40B4-BE49-F238E27FC236}">
                <a16:creationId xmlns:a16="http://schemas.microsoft.com/office/drawing/2014/main" id="{722951A7-E226-460A-BEBE-4DC0A1ADD9C8}"/>
              </a:ext>
            </a:extLst>
          </p:cNvPr>
          <p:cNvSpPr>
            <a:spLocks xmlns:a="http://schemas.openxmlformats.org/drawingml/2006/main" noGrp="1"/>
          </p:cNvSpPr>
          <p:nvPr/>
        </p:nvSpPr>
        <p:spPr>
          <a:xfrm xmlns:a="http://schemas.openxmlformats.org/drawingml/2006/main">
            <a:off x="685800" y="2647950"/>
            <a:ext cx="5334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1413"/>
                </a:solidFill>
                <a:latin typeface="Arial"/>
                <a:ea typeface="Arial"/>
                <a:cs typeface="Arial"/>
              </a:defRPr>
            </a:defPPr>
          </a:lstStyle>
          <a:p xmlns:a="http://schemas.openxmlformats.org/drawingml/2006/main">
            <a:pPr>
              <a:defRPr sz="2325" b="0">
                <a:solidFill>
                  <a:srgbClr val="141413"/>
                </a:solidFill>
                <a:latin typeface="Arial"/>
                <a:ea typeface="Arial"/>
                <a:cs typeface="Arial"/>
              </a:defRPr>
            </a:pPr>
            <a:r>
              <a:rPr sz="2325" b="0">
                <a:solidFill>
                  <a:srgbClr val="141413"/>
                </a:solidFill>
                <a:latin typeface="Arial"/>
                <a:ea typeface="Arial"/>
                <a:cs typeface="Arial"/>
              </a:rPr>
              <a:t>A product photo shows the garment.</a:t>
            </a:r>
          </a:p>
          <a:p xmlns:a="http://schemas.openxmlformats.org/drawingml/2006/main">
            <a:pPr>
              <a:defRPr sz="2325" b="0">
                <a:solidFill>
                  <a:srgbClr val="141413"/>
                </a:solidFill>
                <a:latin typeface="Arial"/>
                <a:ea typeface="Arial"/>
                <a:cs typeface="Arial"/>
              </a:defRPr>
            </a:pPr>
            <a:r>
              <a:rPr sz="2325" b="0">
                <a:solidFill>
                  <a:srgbClr val="141413"/>
                </a:solidFill>
                <a:latin typeface="Arial"/>
                <a:ea typeface="Arial"/>
                <a:cs typeface="Arial"/>
              </a:rPr>
              <a:t>The shopper still has to imagine</a:t>
            </a:r>
          </a:p>
          <a:p xmlns:a="http://schemas.openxmlformats.org/drawingml/2006/main">
            <a:pPr>
              <a:defRPr sz="2325" b="0">
                <a:solidFill>
                  <a:srgbClr val="141413"/>
                </a:solidFill>
                <a:latin typeface="Arial"/>
                <a:ea typeface="Arial"/>
                <a:cs typeface="Arial"/>
              </a:defRPr>
            </a:pPr>
            <a:r>
              <a:rPr sz="2325" b="0">
                <a:solidFill>
                  <a:srgbClr val="141413"/>
                </a:solidFill>
                <a:latin typeface="Arial"/>
                <a:ea typeface="Arial"/>
                <a:cs typeface="Arial"/>
              </a:rPr>
              <a:t>it on themselves.</a:t>
            </a:r>
          </a:p>
        </p:txBody>
      </p:sp>
      <p:sp>
        <p:nvSpPr>
          <p:cNvPr id="3" name="Billy starts with pre-loved pieces">
            <a:extLst xmlns:a="http://schemas.openxmlformats.org/drawingml/2006/main">
              <a:ext uri="{FF2B5EF4-FFF2-40B4-BE49-F238E27FC236}">
                <a16:creationId xmlns:a16="http://schemas.microsoft.com/office/drawing/2014/main" id="{68068E90-59A2-4A59-8093-3EE16B135EDB}"/>
              </a:ext>
            </a:extLst>
          </p:cNvPr>
          <p:cNvSpPr>
            <a:spLocks xmlns:a="http://schemas.openxmlformats.org/drawingml/2006/main" noGrp="1"/>
          </p:cNvSpPr>
          <p:nvPr/>
        </p:nvSpPr>
        <p:spPr>
          <a:xfrm xmlns:a="http://schemas.openxmlformats.org/drawingml/2006/main">
            <a:off x="685800" y="4733925"/>
            <a:ext cx="5219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5F5A"/>
                </a:solidFill>
                <a:latin typeface="Arial"/>
                <a:ea typeface="Arial"/>
                <a:cs typeface="Arial"/>
              </a:defRPr>
            </a:defPPr>
          </a:lstStyle>
          <a:p xmlns:a="http://schemas.openxmlformats.org/drawingml/2006/main">
            <a:pPr>
              <a:defRPr sz="2025" b="0">
                <a:solidFill>
                  <a:srgbClr val="5F5F5A"/>
                </a:solidFill>
                <a:latin typeface="Arial"/>
                <a:ea typeface="Arial"/>
                <a:cs typeface="Arial"/>
              </a:defRPr>
            </a:pPr>
            <a:r>
              <a:rPr sz="2025" b="0">
                <a:solidFill>
                  <a:srgbClr val="5F5F5A"/>
                </a:solidFill>
                <a:latin typeface="Arial"/>
                <a:ea typeface="Arial"/>
                <a:cs typeface="Arial"/>
              </a:rPr>
              <a:t>Billy starts with pre-loved pieces</a:t>
            </a:r>
          </a:p>
          <a:p xmlns:a="http://schemas.openxmlformats.org/drawingml/2006/main">
            <a:pPr>
              <a:defRPr sz="2025" b="0">
                <a:solidFill>
                  <a:srgbClr val="5F5F5A"/>
                </a:solidFill>
                <a:latin typeface="Arial"/>
                <a:ea typeface="Arial"/>
                <a:cs typeface="Arial"/>
              </a:defRPr>
            </a:pPr>
            <a:r>
              <a:rPr sz="2025" b="0">
                <a:solidFill>
                  <a:srgbClr val="5F5F5A"/>
                </a:solidFill>
                <a:latin typeface="Arial"/>
                <a:ea typeface="Arial"/>
                <a:cs typeface="Arial"/>
              </a:rPr>
              <a:t>and retailers’ unsold stock.</a:t>
            </a:r>
          </a:p>
        </p:txBody>
      </p:sp>
      <p:pic>
        <p:nvPicPr>
          <p:cNvPr id="4" name="">
            <a:extLst xmlns:a="http://schemas.openxmlformats.org/drawingml/2006/main">
              <a:ext uri="{FF2B5EF4-FFF2-40B4-BE49-F238E27FC236}">
                <a16:creationId xmlns:a16="http://schemas.microsoft.com/office/drawing/2014/main" id="{891C0B86-DA60-4956-A1C8-E01FA9E16131}"/>
              </a:ext>
            </a:extLst>
          </p:cNvPr>
          <p:cNvPicPr>
            <a:picLocks xmlns:a="http://schemas.openxmlformats.org/drawingml/2006/main" noChangeAspect="1"/>
          </p:cNvPicPr>
          <p:nvPr/>
        </p:nvPicPr>
        <p:blipFill>
          <a:blip xmlns:r="http://schemas.openxmlformats.org/officeDocument/2006/relationships" xmlns:a="http://schemas.openxmlformats.org/drawingml/2006/main" r:embed="R95ff0983b52f421f"/>
          <a:stretch xmlns:a="http://schemas.openxmlformats.org/drawingml/2006/main"/>
        </p:blipFill>
        <p:spPr>
          <a:xfrm xmlns:a="http://schemas.openxmlformats.org/drawingml/2006/main">
            <a:off x="6934200" y="704850"/>
            <a:ext cx="4086225" cy="5448300"/>
          </a:xfrm>
          <a:prstGeom xmlns:a="http://schemas.openxmlformats.org/drawingml/2006/main" prst="rect">
            <a:avLst/>
          </a:prstGeom>
        </p:spPr>
      </p:pic>
      <p:sp>
        <p:nvSpPr>
          <p:cNvPr id="5" name="AI-generated demo garment">
            <a:extLst xmlns:a="http://schemas.openxmlformats.org/drawingml/2006/main">
              <a:ext uri="{FF2B5EF4-FFF2-40B4-BE49-F238E27FC236}">
                <a16:creationId xmlns:a16="http://schemas.microsoft.com/office/drawing/2014/main" id="{7B1DB8EA-A813-4324-A3A3-6B004E0EFD2F}"/>
              </a:ext>
            </a:extLst>
          </p:cNvPr>
          <p:cNvSpPr>
            <a:spLocks xmlns:a="http://schemas.openxmlformats.org/drawingml/2006/main" noGrp="1"/>
          </p:cNvSpPr>
          <p:nvPr/>
        </p:nvSpPr>
        <p:spPr>
          <a:xfrm xmlns:a="http://schemas.openxmlformats.org/drawingml/2006/main">
            <a:off x="7181850" y="62198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5F5A"/>
                </a:solidFill>
                <a:latin typeface="Arial"/>
                <a:ea typeface="Arial"/>
                <a:cs typeface="Arial"/>
              </a:defRPr>
            </a:defPPr>
          </a:lstStyle>
          <a:p xmlns:a="http://schemas.openxmlformats.org/drawingml/2006/main">
            <a:pPr>
              <a:defRPr sz="1350" b="0">
                <a:solidFill>
                  <a:srgbClr val="5F5F5A"/>
                </a:solidFill>
                <a:latin typeface="Arial"/>
                <a:ea typeface="Arial"/>
                <a:cs typeface="Arial"/>
              </a:defRPr>
            </a:pPr>
            <a:r>
              <a:rPr sz="1350" b="0">
                <a:solidFill>
                  <a:srgbClr val="5F5F5A"/>
                </a:solidFill>
                <a:latin typeface="Arial"/>
                <a:ea typeface="Arial"/>
                <a:cs typeface="Arial"/>
              </a:rPr>
              <a:t>AI-generated demo garment</a:t>
            </a:r>
          </a:p>
        </p:txBody>
      </p:sp>
    </p:spTree>
    <p:extLst>
      <p:ext uri="{BB962C8B-B14F-4D97-AF65-F5344CB8AC3E}">
        <p14:creationId xmlns:p14="http://schemas.microsoft.com/office/powerpoint/2010/main" val="162890381"/>
      </p:ext>
    </p:extLst>
  </p:cSld>
</p:sld>
</file>

<file path=ppt/slides/slide3.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10" name="Two photos, one preview">
            <a:extLst xmlns:a="http://schemas.openxmlformats.org/drawingml/2006/main">
              <a:ext uri="{FF2B5EF4-FFF2-40B4-BE49-F238E27FC236}">
                <a16:creationId xmlns:a16="http://schemas.microsoft.com/office/drawing/2014/main" id="{91EC1A6B-31CC-4065-8B01-BF9E40DAE71F}"/>
              </a:ext>
            </a:extLst>
          </p:cNvPr>
          <p:cNvSpPr>
            <a:spLocks xmlns:a="http://schemas.openxmlformats.org/drawingml/2006/main" noGrp="1"/>
          </p:cNvSpPr>
          <p:nvPr/>
        </p:nvSpPr>
        <p:spPr>
          <a:xfrm xmlns:a="http://schemas.openxmlformats.org/drawingml/2006/main">
            <a:off x="685800" y="5619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41413"/>
                </a:solidFill>
                <a:latin typeface="Arial"/>
                <a:ea typeface="Arial"/>
                <a:cs typeface="Arial"/>
              </a:defRPr>
            </a:defPPr>
          </a:lstStyle>
          <a:p xmlns:a="http://schemas.openxmlformats.org/drawingml/2006/main">
            <a:pPr>
              <a:defRPr sz="3675" b="1">
                <a:solidFill>
                  <a:srgbClr val="141413"/>
                </a:solidFill>
                <a:latin typeface="Arial"/>
                <a:ea typeface="Arial"/>
                <a:cs typeface="Arial"/>
              </a:defRPr>
            </a:pPr>
            <a:r>
              <a:rPr sz="3675" b="1">
                <a:solidFill>
                  <a:srgbClr val="141413"/>
                </a:solidFill>
                <a:latin typeface="Arial"/>
                <a:ea typeface="Arial"/>
                <a:cs typeface="Arial"/>
              </a:rPr>
              <a:t>Two photos, one preview</a:t>
            </a:r>
          </a:p>
        </p:txBody>
      </p:sp>
      <p:sp>
        <p:nvSpPr>
          <p:cNvPr id="2" name="Add a photo, choose a garment, then generate a look.">
            <a:extLst xmlns:a="http://schemas.openxmlformats.org/drawingml/2006/main">
              <a:ext uri="{FF2B5EF4-FFF2-40B4-BE49-F238E27FC236}">
                <a16:creationId xmlns:a16="http://schemas.microsoft.com/office/drawing/2014/main" id="{ACB04BD2-A76F-47A0-B000-D9C77D6A7831}"/>
              </a:ext>
            </a:extLst>
          </p:cNvPr>
          <p:cNvSpPr>
            <a:spLocks xmlns:a="http://schemas.openxmlformats.org/drawingml/2006/main" noGrp="1"/>
          </p:cNvSpPr>
          <p:nvPr/>
        </p:nvSpPr>
        <p:spPr>
          <a:xfrm xmlns:a="http://schemas.openxmlformats.org/drawingml/2006/main">
            <a:off x="685800" y="1323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5F5A"/>
                </a:solidFill>
                <a:latin typeface="Arial"/>
                <a:ea typeface="Arial"/>
                <a:cs typeface="Arial"/>
              </a:defRPr>
            </a:defPPr>
          </a:lstStyle>
          <a:p xmlns:a="http://schemas.openxmlformats.org/drawingml/2006/main">
            <a:pPr>
              <a:defRPr sz="2025" b="0">
                <a:solidFill>
                  <a:srgbClr val="5F5F5A"/>
                </a:solidFill>
                <a:latin typeface="Arial"/>
                <a:ea typeface="Arial"/>
                <a:cs typeface="Arial"/>
              </a:defRPr>
            </a:pPr>
            <a:r>
              <a:rPr sz="2025" b="0">
                <a:solidFill>
                  <a:srgbClr val="5F5F5A"/>
                </a:solidFill>
                <a:latin typeface="Arial"/>
                <a:ea typeface="Arial"/>
                <a:cs typeface="Arial"/>
              </a:rPr>
              <a:t>Add a photo, choose a garment, then generate a look.</a:t>
            </a:r>
          </a:p>
        </p:txBody>
      </p:sp>
      <p:pic>
        <p:nvPicPr>
          <p:cNvPr id="3" name="">
            <a:extLst xmlns:a="http://schemas.openxmlformats.org/drawingml/2006/main">
              <a:ext uri="{FF2B5EF4-FFF2-40B4-BE49-F238E27FC236}">
                <a16:creationId xmlns:a16="http://schemas.microsoft.com/office/drawing/2014/main" id="{FEEB4299-7565-4B70-8327-0C0BDC63EA14}"/>
              </a:ext>
            </a:extLst>
          </p:cNvPr>
          <p:cNvPicPr>
            <a:picLocks xmlns:a="http://schemas.openxmlformats.org/drawingml/2006/main" noChangeAspect="1"/>
          </p:cNvPicPr>
          <p:nvPr/>
        </p:nvPicPr>
        <p:blipFill>
          <a:blip xmlns:r="http://schemas.openxmlformats.org/officeDocument/2006/relationships" xmlns:a="http://schemas.openxmlformats.org/drawingml/2006/main" r:embed="R07b0fdeafc4d40ac"/>
          <a:stretch xmlns:a="http://schemas.openxmlformats.org/drawingml/2006/main"/>
        </p:blipFill>
        <p:spPr>
          <a:xfrm xmlns:a="http://schemas.openxmlformats.org/drawingml/2006/main">
            <a:off x="892969" y="1971675"/>
            <a:ext cx="2786063" cy="3714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A2B45CA-3B44-4D5A-8817-37D019E66D75}"/>
              </a:ext>
            </a:extLst>
          </p:cNvPr>
          <p:cNvPicPr>
            <a:picLocks xmlns:a="http://schemas.openxmlformats.org/drawingml/2006/main" noChangeAspect="1"/>
          </p:cNvPicPr>
          <p:nvPr/>
        </p:nvPicPr>
        <p:blipFill>
          <a:blip xmlns:r="http://schemas.openxmlformats.org/officeDocument/2006/relationships" xmlns:a="http://schemas.openxmlformats.org/drawingml/2006/main" r:embed="R5fdfab5801ef4eec"/>
          <a:stretch xmlns:a="http://schemas.openxmlformats.org/drawingml/2006/main"/>
        </p:blipFill>
        <p:spPr>
          <a:xfrm xmlns:a="http://schemas.openxmlformats.org/drawingml/2006/main">
            <a:off x="4702969" y="1971675"/>
            <a:ext cx="2786063" cy="3714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AEA49DC-14CE-40A5-A101-E290F67CD8A7}"/>
              </a:ext>
            </a:extLst>
          </p:cNvPr>
          <p:cNvPicPr>
            <a:picLocks xmlns:a="http://schemas.openxmlformats.org/drawingml/2006/main" noChangeAspect="1"/>
          </p:cNvPicPr>
          <p:nvPr/>
        </p:nvPicPr>
        <p:blipFill>
          <a:blip xmlns:r="http://schemas.openxmlformats.org/officeDocument/2006/relationships" xmlns:a="http://schemas.openxmlformats.org/drawingml/2006/main" r:embed="Rc3c559829a274592"/>
          <a:stretch xmlns:a="http://schemas.openxmlformats.org/drawingml/2006/main"/>
        </p:blipFill>
        <p:spPr>
          <a:xfrm xmlns:a="http://schemas.openxmlformats.org/drawingml/2006/main">
            <a:off x="8512969" y="1971675"/>
            <a:ext cx="2786063" cy="3714750"/>
          </a:xfrm>
          <a:prstGeom xmlns:a="http://schemas.openxmlformats.org/drawingml/2006/main" prst="rect">
            <a:avLst/>
          </a:prstGeom>
        </p:spPr>
      </p:pic>
      <p:sp>
        <p:nvSpPr>
          <p:cNvPr id="6" name="01  Your photo">
            <a:extLst xmlns:a="http://schemas.openxmlformats.org/drawingml/2006/main">
              <a:ext uri="{FF2B5EF4-FFF2-40B4-BE49-F238E27FC236}">
                <a16:creationId xmlns:a16="http://schemas.microsoft.com/office/drawing/2014/main" id="{97E3626D-6821-4E0B-AC1A-3F9A72506BF2}"/>
              </a:ext>
            </a:extLst>
          </p:cNvPr>
          <p:cNvSpPr>
            <a:spLocks xmlns:a="http://schemas.openxmlformats.org/drawingml/2006/main" noGrp="1"/>
          </p:cNvSpPr>
          <p:nvPr/>
        </p:nvSpPr>
        <p:spPr>
          <a:xfrm xmlns:a="http://schemas.openxmlformats.org/drawingml/2006/main">
            <a:off x="809625" y="58293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1413"/>
                </a:solidFill>
                <a:latin typeface="Arial"/>
                <a:ea typeface="Arial"/>
                <a:cs typeface="Arial"/>
              </a:defRPr>
            </a:defPPr>
          </a:lstStyle>
          <a:p xmlns:a="http://schemas.openxmlformats.org/drawingml/2006/main">
            <a:pPr>
              <a:defRPr sz="2025" b="1">
                <a:solidFill>
                  <a:srgbClr val="141413"/>
                </a:solidFill>
                <a:latin typeface="Arial"/>
                <a:ea typeface="Arial"/>
                <a:cs typeface="Arial"/>
              </a:defRPr>
            </a:pPr>
            <a:r>
              <a:rPr sz="2025" b="1">
                <a:solidFill>
                  <a:srgbClr val="141413"/>
                </a:solidFill>
                <a:latin typeface="Arial"/>
                <a:ea typeface="Arial"/>
                <a:cs typeface="Arial"/>
              </a:rPr>
              <a:t>01  Your photo</a:t>
            </a:r>
          </a:p>
        </p:txBody>
      </p:sp>
      <p:sp>
        <p:nvSpPr>
          <p:cNvPr id="7" name="02  A garment">
            <a:extLst xmlns:a="http://schemas.openxmlformats.org/drawingml/2006/main">
              <a:ext uri="{FF2B5EF4-FFF2-40B4-BE49-F238E27FC236}">
                <a16:creationId xmlns:a16="http://schemas.microsoft.com/office/drawing/2014/main" id="{881D3408-CA19-4009-BE8A-F804C17E936B}"/>
              </a:ext>
            </a:extLst>
          </p:cNvPr>
          <p:cNvSpPr>
            <a:spLocks xmlns:a="http://schemas.openxmlformats.org/drawingml/2006/main" noGrp="1"/>
          </p:cNvSpPr>
          <p:nvPr/>
        </p:nvSpPr>
        <p:spPr>
          <a:xfrm xmlns:a="http://schemas.openxmlformats.org/drawingml/2006/main">
            <a:off x="4619625" y="58293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1413"/>
                </a:solidFill>
                <a:latin typeface="Arial"/>
                <a:ea typeface="Arial"/>
                <a:cs typeface="Arial"/>
              </a:defRPr>
            </a:defPPr>
          </a:lstStyle>
          <a:p xmlns:a="http://schemas.openxmlformats.org/drawingml/2006/main">
            <a:pPr>
              <a:defRPr sz="2025" b="1">
                <a:solidFill>
                  <a:srgbClr val="141413"/>
                </a:solidFill>
                <a:latin typeface="Arial"/>
                <a:ea typeface="Arial"/>
                <a:cs typeface="Arial"/>
              </a:defRPr>
            </a:pPr>
            <a:r>
              <a:rPr sz="2025" b="1">
                <a:solidFill>
                  <a:srgbClr val="141413"/>
                </a:solidFill>
                <a:latin typeface="Arial"/>
                <a:ea typeface="Arial"/>
                <a:cs typeface="Arial"/>
              </a:rPr>
              <a:t>02  A garment</a:t>
            </a:r>
          </a:p>
        </p:txBody>
      </p:sp>
      <p:sp>
        <p:nvSpPr>
          <p:cNvPr id="8" name="03  The preview">
            <a:extLst xmlns:a="http://schemas.openxmlformats.org/drawingml/2006/main">
              <a:ext uri="{FF2B5EF4-FFF2-40B4-BE49-F238E27FC236}">
                <a16:creationId xmlns:a16="http://schemas.microsoft.com/office/drawing/2014/main" id="{3E9578EE-8C69-43FE-B143-1D46F58B9D59}"/>
              </a:ext>
            </a:extLst>
          </p:cNvPr>
          <p:cNvSpPr>
            <a:spLocks xmlns:a="http://schemas.openxmlformats.org/drawingml/2006/main" noGrp="1"/>
          </p:cNvSpPr>
          <p:nvPr/>
        </p:nvSpPr>
        <p:spPr>
          <a:xfrm xmlns:a="http://schemas.openxmlformats.org/drawingml/2006/main">
            <a:off x="8429625" y="58293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1413"/>
                </a:solidFill>
                <a:latin typeface="Arial"/>
                <a:ea typeface="Arial"/>
                <a:cs typeface="Arial"/>
              </a:defRPr>
            </a:defPPr>
          </a:lstStyle>
          <a:p xmlns:a="http://schemas.openxmlformats.org/drawingml/2006/main">
            <a:pPr>
              <a:defRPr sz="2025" b="1">
                <a:solidFill>
                  <a:srgbClr val="141413"/>
                </a:solidFill>
                <a:latin typeface="Arial"/>
                <a:ea typeface="Arial"/>
                <a:cs typeface="Arial"/>
              </a:defRPr>
            </a:pPr>
            <a:r>
              <a:rPr sz="2025" b="1">
                <a:solidFill>
                  <a:srgbClr val="141413"/>
                </a:solidFill>
                <a:latin typeface="Arial"/>
                <a:ea typeface="Arial"/>
                <a:cs typeface="Arial"/>
              </a:rPr>
              <a:t>03  The preview</a:t>
            </a:r>
          </a:p>
        </p:txBody>
      </p:sp>
      <p:sp>
        <p:nvSpPr>
          <p:cNvPr id="9" name="AI-generated demo. Sizing still needs measurements.">
            <a:extLst xmlns:a="http://schemas.openxmlformats.org/drawingml/2006/main">
              <a:ext uri="{FF2B5EF4-FFF2-40B4-BE49-F238E27FC236}">
                <a16:creationId xmlns:a16="http://schemas.microsoft.com/office/drawing/2014/main" id="{740C5924-CDCE-4D41-B1F3-D43D328C9BD6}"/>
              </a:ext>
            </a:extLst>
          </p:cNvPr>
          <p:cNvSpPr>
            <a:spLocks xmlns:a="http://schemas.openxmlformats.org/drawingml/2006/main" noGrp="1"/>
          </p:cNvSpPr>
          <p:nvPr/>
        </p:nvSpPr>
        <p:spPr>
          <a:xfrm xmlns:a="http://schemas.openxmlformats.org/drawingml/2006/main">
            <a:off x="685800" y="6391275"/>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5F5A"/>
                </a:solidFill>
                <a:latin typeface="Arial"/>
                <a:ea typeface="Arial"/>
                <a:cs typeface="Arial"/>
              </a:defRPr>
            </a:defPPr>
          </a:lstStyle>
          <a:p xmlns:a="http://schemas.openxmlformats.org/drawingml/2006/main">
            <a:pPr>
              <a:defRPr sz="1350" b="0">
                <a:solidFill>
                  <a:srgbClr val="5F5F5A"/>
                </a:solidFill>
                <a:latin typeface="Arial"/>
                <a:ea typeface="Arial"/>
                <a:cs typeface="Arial"/>
              </a:defRPr>
            </a:pPr>
            <a:r>
              <a:rPr sz="1350" b="0">
                <a:solidFill>
                  <a:srgbClr val="5F5F5A"/>
                </a:solidFill>
                <a:latin typeface="Arial"/>
                <a:ea typeface="Arial"/>
                <a:cs typeface="Arial"/>
              </a:rPr>
              <a:t>AI-generated demo. Sizing still needs measurements.</a:t>
            </a:r>
          </a:p>
        </p:txBody>
      </p:sp>
    </p:spTree>
    <p:extLst>
      <p:ext uri="{BB962C8B-B14F-4D97-AF65-F5344CB8AC3E}">
        <p14:creationId xmlns:p14="http://schemas.microsoft.com/office/powerpoint/2010/main" val="1591837257"/>
      </p:ext>
    </p:extLst>
  </p:cSld>
</p:sld>
</file>

<file path=ppt/slides/slide4.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7" name="Try-on while you browse">
            <a:extLst xmlns:a="http://schemas.openxmlformats.org/drawingml/2006/main">
              <a:ext uri="{FF2B5EF4-FFF2-40B4-BE49-F238E27FC236}">
                <a16:creationId xmlns:a16="http://schemas.microsoft.com/office/drawing/2014/main" id="{2DDD847C-F578-485E-B449-B50DB2134F2A}"/>
              </a:ext>
            </a:extLst>
          </p:cNvPr>
          <p:cNvSpPr>
            <a:spLocks xmlns:a="http://schemas.openxmlformats.org/drawingml/2006/main" noGrp="1"/>
          </p:cNvSpPr>
          <p:nvPr/>
        </p:nvSpPr>
        <p:spPr>
          <a:xfrm xmlns:a="http://schemas.openxmlformats.org/drawingml/2006/main">
            <a:off x="685800" y="5048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41413"/>
                </a:solidFill>
                <a:latin typeface="Arial"/>
                <a:ea typeface="Arial"/>
                <a:cs typeface="Arial"/>
              </a:defRPr>
            </a:defPPr>
          </a:lstStyle>
          <a:p xmlns:a="http://schemas.openxmlformats.org/drawingml/2006/main">
            <a:pPr>
              <a:defRPr sz="3675" b="1">
                <a:solidFill>
                  <a:srgbClr val="141413"/>
                </a:solidFill>
                <a:latin typeface="Arial"/>
                <a:ea typeface="Arial"/>
                <a:cs typeface="Arial"/>
              </a:defRPr>
            </a:pPr>
            <a:r>
              <a:rPr sz="3675" b="1">
                <a:solidFill>
                  <a:srgbClr val="141413"/>
                </a:solidFill>
                <a:latin typeface="Arial"/>
                <a:ea typeface="Arial"/>
                <a:cs typeface="Arial"/>
              </a:rPr>
              <a:t>Try-on while you browse</a:t>
            </a:r>
          </a:p>
        </p:txBody>
      </p:sp>
      <p:pic>
        <p:nvPicPr>
          <p:cNvPr id="2" name="">
            <a:extLst xmlns:a="http://schemas.openxmlformats.org/drawingml/2006/main">
              <a:ext uri="{FF2B5EF4-FFF2-40B4-BE49-F238E27FC236}">
                <a16:creationId xmlns:a16="http://schemas.microsoft.com/office/drawing/2014/main" id="{7F678970-9B75-4902-A52B-ACE9672622B1}"/>
              </a:ext>
            </a:extLst>
          </p:cNvPr>
          <p:cNvPicPr>
            <a:picLocks xmlns:a="http://schemas.openxmlformats.org/drawingml/2006/main" noChangeAspect="1"/>
          </p:cNvPicPr>
          <p:nvPr/>
        </p:nvPicPr>
        <p:blipFill>
          <a:blip xmlns:r="http://schemas.openxmlformats.org/officeDocument/2006/relationships" xmlns:a="http://schemas.openxmlformats.org/drawingml/2006/main" r:embed="R8ecf68811d914dc1"/>
          <a:stretch xmlns:a="http://schemas.openxmlformats.org/drawingml/2006/main"/>
        </p:blipFill>
        <p:spPr>
          <a:xfrm xmlns:a="http://schemas.openxmlformats.org/drawingml/2006/main">
            <a:off x="685800" y="1477863"/>
            <a:ext cx="7353300" cy="4940498"/>
          </a:xfrm>
          <a:prstGeom xmlns:a="http://schemas.openxmlformats.org/drawingml/2006/main" prst="rect">
            <a:avLst/>
          </a:prstGeom>
        </p:spPr>
      </p:pic>
      <p:sp>
        <p:nvSpPr>
          <p:cNvPr id="3" name="Hover a photo">
            <a:extLst xmlns:a="http://schemas.openxmlformats.org/drawingml/2006/main">
              <a:ext uri="{FF2B5EF4-FFF2-40B4-BE49-F238E27FC236}">
                <a16:creationId xmlns:a16="http://schemas.microsoft.com/office/drawing/2014/main" id="{88D6C659-AB5E-4442-A06A-EA8C3FCBB373}"/>
              </a:ext>
            </a:extLst>
          </p:cNvPr>
          <p:cNvSpPr>
            <a:spLocks xmlns:a="http://schemas.openxmlformats.org/drawingml/2006/main" noGrp="1"/>
          </p:cNvSpPr>
          <p:nvPr/>
        </p:nvSpPr>
        <p:spPr>
          <a:xfrm xmlns:a="http://schemas.openxmlformats.org/drawingml/2006/main">
            <a:off x="8582025" y="2000250"/>
            <a:ext cx="289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Hover a photo</a:t>
            </a:r>
          </a:p>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or drag it in</a:t>
            </a:r>
          </a:p>
        </p:txBody>
      </p:sp>
      <p:sp>
        <p:nvSpPr>
          <p:cNvPr id="4" name="The preview appears">
            <a:extLst xmlns:a="http://schemas.openxmlformats.org/drawingml/2006/main">
              <a:ext uri="{FF2B5EF4-FFF2-40B4-BE49-F238E27FC236}">
                <a16:creationId xmlns:a16="http://schemas.microsoft.com/office/drawing/2014/main" id="{095A4856-5CE7-4B2D-AC64-DBD8F16B0200}"/>
              </a:ext>
            </a:extLst>
          </p:cNvPr>
          <p:cNvSpPr>
            <a:spLocks xmlns:a="http://schemas.openxmlformats.org/drawingml/2006/main" noGrp="1"/>
          </p:cNvSpPr>
          <p:nvPr/>
        </p:nvSpPr>
        <p:spPr>
          <a:xfrm xmlns:a="http://schemas.openxmlformats.org/drawingml/2006/main">
            <a:off x="8582025" y="3448050"/>
            <a:ext cx="2895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The preview appears</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on the shop page</a:t>
            </a:r>
          </a:p>
        </p:txBody>
      </p:sp>
      <p:sp>
        <p:nvSpPr>
          <p:cNvPr id="5" name="Save a look">
            <a:extLst xmlns:a="http://schemas.openxmlformats.org/drawingml/2006/main">
              <a:ext uri="{FF2B5EF4-FFF2-40B4-BE49-F238E27FC236}">
                <a16:creationId xmlns:a16="http://schemas.microsoft.com/office/drawing/2014/main" id="{1373AF30-731E-4455-9D21-79B53E02676F}"/>
              </a:ext>
            </a:extLst>
          </p:cNvPr>
          <p:cNvSpPr>
            <a:spLocks xmlns:a="http://schemas.openxmlformats.org/drawingml/2006/main" noGrp="1"/>
          </p:cNvSpPr>
          <p:nvPr/>
        </p:nvSpPr>
        <p:spPr>
          <a:xfrm xmlns:a="http://schemas.openxmlformats.org/drawingml/2006/main">
            <a:off x="8582025" y="5133975"/>
            <a:ext cx="2895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Save a look</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and keep browsing</a:t>
            </a:r>
          </a:p>
        </p:txBody>
      </p:sp>
      <p:sp>
        <p:nvSpPr>
          <p:cNvPr id="6" name="Demo shop capture">
            <a:extLst xmlns:a="http://schemas.openxmlformats.org/drawingml/2006/main">
              <a:ext uri="{FF2B5EF4-FFF2-40B4-BE49-F238E27FC236}">
                <a16:creationId xmlns:a16="http://schemas.microsoft.com/office/drawing/2014/main" id="{9BE4037B-2DFF-43C0-B03C-1AE6FAD407FC}"/>
              </a:ext>
            </a:extLst>
          </p:cNvPr>
          <p:cNvSpPr>
            <a:spLocks xmlns:a="http://schemas.openxmlformats.org/drawingml/2006/main" noGrp="1"/>
          </p:cNvSpPr>
          <p:nvPr/>
        </p:nvSpPr>
        <p:spPr>
          <a:xfrm xmlns:a="http://schemas.openxmlformats.org/drawingml/2006/main">
            <a:off x="685800" y="12096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5F5A"/>
                </a:solidFill>
                <a:latin typeface="Arial"/>
                <a:ea typeface="Arial"/>
                <a:cs typeface="Arial"/>
              </a:defRPr>
            </a:defPPr>
          </a:lstStyle>
          <a:p xmlns:a="http://schemas.openxmlformats.org/drawingml/2006/main">
            <a:pPr>
              <a:defRPr sz="1350" b="0">
                <a:solidFill>
                  <a:srgbClr val="5F5F5A"/>
                </a:solidFill>
                <a:latin typeface="Arial"/>
                <a:ea typeface="Arial"/>
                <a:cs typeface="Arial"/>
              </a:defRPr>
            </a:pPr>
            <a:r>
              <a:rPr sz="1350" b="0">
                <a:solidFill>
                  <a:srgbClr val="5F5F5A"/>
                </a:solidFill>
                <a:latin typeface="Arial"/>
                <a:ea typeface="Arial"/>
                <a:cs typeface="Arial"/>
              </a:rPr>
              <a:t>Demo shop capture</a:t>
            </a:r>
          </a:p>
        </p:txBody>
      </p:sp>
    </p:spTree>
    <p:extLst>
      <p:ext uri="{BB962C8B-B14F-4D97-AF65-F5344CB8AC3E}">
        <p14:creationId xmlns:p14="http://schemas.microsoft.com/office/powerpoint/2010/main" val="1660836714"/>
      </p:ext>
    </p:extLst>
  </p:cSld>
</p:sld>
</file>

<file path=ppt/slides/slide5.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7" name="Try-on inside a shop">
            <a:extLst xmlns:a="http://schemas.openxmlformats.org/drawingml/2006/main">
              <a:ext uri="{FF2B5EF4-FFF2-40B4-BE49-F238E27FC236}">
                <a16:creationId xmlns:a16="http://schemas.microsoft.com/office/drawing/2014/main" id="{705F190E-32EA-4BCA-A18F-A077848F5E6C}"/>
              </a:ext>
            </a:extLst>
          </p:cNvPr>
          <p:cNvSpPr>
            <a:spLocks xmlns:a="http://schemas.openxmlformats.org/drawingml/2006/main" noGrp="1"/>
          </p:cNvSpPr>
          <p:nvPr/>
        </p:nvSpPr>
        <p:spPr>
          <a:xfrm xmlns:a="http://schemas.openxmlformats.org/drawingml/2006/main">
            <a:off x="685800" y="5524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41413"/>
                </a:solidFill>
                <a:latin typeface="Arial"/>
                <a:ea typeface="Arial"/>
                <a:cs typeface="Arial"/>
              </a:defRPr>
            </a:defPPr>
          </a:lstStyle>
          <a:p xmlns:a="http://schemas.openxmlformats.org/drawingml/2006/main">
            <a:pPr>
              <a:defRPr sz="3675" b="1">
                <a:solidFill>
                  <a:srgbClr val="141413"/>
                </a:solidFill>
                <a:latin typeface="Arial"/>
                <a:ea typeface="Arial"/>
                <a:cs typeface="Arial"/>
              </a:defRPr>
            </a:pPr>
            <a:r>
              <a:rPr sz="3675" b="1">
                <a:solidFill>
                  <a:srgbClr val="141413"/>
                </a:solidFill>
                <a:latin typeface="Arial"/>
                <a:ea typeface="Arial"/>
                <a:cs typeface="Arial"/>
              </a:rPr>
              <a:t>Try-on inside a shop</a:t>
            </a:r>
          </a:p>
        </p:txBody>
      </p:sp>
      <p:sp>
        <p:nvSpPr>
          <p:cNvPr id="2" name="ÉTAGE is Billy’s fictional retailer demo.">
            <a:extLst xmlns:a="http://schemas.openxmlformats.org/drawingml/2006/main">
              <a:ext uri="{FF2B5EF4-FFF2-40B4-BE49-F238E27FC236}">
                <a16:creationId xmlns:a16="http://schemas.microsoft.com/office/drawing/2014/main" id="{662C2988-029B-4152-8083-2A13278B3380}"/>
              </a:ext>
            </a:extLst>
          </p:cNvPr>
          <p:cNvSpPr>
            <a:spLocks xmlns:a="http://schemas.openxmlformats.org/drawingml/2006/main" noGrp="1"/>
          </p:cNvSpPr>
          <p:nvPr/>
        </p:nvSpPr>
        <p:spPr>
          <a:xfrm xmlns:a="http://schemas.openxmlformats.org/drawingml/2006/main">
            <a:off x="685800" y="12668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F5F5A"/>
                </a:solidFill>
                <a:latin typeface="Arial"/>
                <a:ea typeface="Arial"/>
                <a:cs typeface="Arial"/>
              </a:defRPr>
            </a:defPPr>
          </a:lstStyle>
          <a:p xmlns:a="http://schemas.openxmlformats.org/drawingml/2006/main">
            <a:pPr>
              <a:defRPr sz="2025" b="0">
                <a:solidFill>
                  <a:srgbClr val="5F5F5A"/>
                </a:solidFill>
                <a:latin typeface="Arial"/>
                <a:ea typeface="Arial"/>
                <a:cs typeface="Arial"/>
              </a:defRPr>
            </a:pPr>
            <a:r>
              <a:rPr sz="2025" b="0">
                <a:solidFill>
                  <a:srgbClr val="5F5F5A"/>
                </a:solidFill>
                <a:latin typeface="Arial"/>
                <a:ea typeface="Arial"/>
                <a:cs typeface="Arial"/>
              </a:rPr>
              <a:t>ÉTAGE is Billy’s fictional retailer demo.</a:t>
            </a:r>
          </a:p>
        </p:txBody>
      </p:sp>
      <p:pic>
        <p:nvPicPr>
          <p:cNvPr id="3" name="">
            <a:extLst xmlns:a="http://schemas.openxmlformats.org/drawingml/2006/main">
              <a:ext uri="{FF2B5EF4-FFF2-40B4-BE49-F238E27FC236}">
                <a16:creationId xmlns:a16="http://schemas.microsoft.com/office/drawing/2014/main" id="{DB4FB7E8-F606-4091-8CB1-DDEC238A5695}"/>
              </a:ext>
            </a:extLst>
          </p:cNvPr>
          <p:cNvPicPr>
            <a:picLocks xmlns:a="http://schemas.openxmlformats.org/drawingml/2006/main" noChangeAspect="1"/>
          </p:cNvPicPr>
          <p:nvPr/>
        </p:nvPicPr>
        <p:blipFill>
          <a:blip xmlns:r="http://schemas.openxmlformats.org/officeDocument/2006/relationships" xmlns:a="http://schemas.openxmlformats.org/drawingml/2006/main" r:embed="Ra0a3fe5b48e84362"/>
          <a:stretch xmlns:a="http://schemas.openxmlformats.org/drawingml/2006/main"/>
        </p:blipFill>
        <p:spPr>
          <a:xfrm xmlns:a="http://schemas.openxmlformats.org/drawingml/2006/main">
            <a:off x="685800" y="1828800"/>
            <a:ext cx="7315200" cy="4800600"/>
          </a:xfrm>
          <a:prstGeom xmlns:a="http://schemas.openxmlformats.org/drawingml/2006/main" prst="rect">
            <a:avLst/>
          </a:prstGeom>
        </p:spPr>
      </p:pic>
      <p:sp>
        <p:nvSpPr>
          <p:cNvPr id="4" name="A Billy button">
            <a:extLst xmlns:a="http://schemas.openxmlformats.org/drawingml/2006/main">
              <a:ext uri="{FF2B5EF4-FFF2-40B4-BE49-F238E27FC236}">
                <a16:creationId xmlns:a16="http://schemas.microsoft.com/office/drawing/2014/main" id="{16046926-0183-431C-A41A-FF09C2EEC3A4}"/>
              </a:ext>
            </a:extLst>
          </p:cNvPr>
          <p:cNvSpPr>
            <a:spLocks xmlns:a="http://schemas.openxmlformats.org/drawingml/2006/main" noGrp="1"/>
          </p:cNvSpPr>
          <p:nvPr/>
        </p:nvSpPr>
        <p:spPr>
          <a:xfrm xmlns:a="http://schemas.openxmlformats.org/drawingml/2006/main">
            <a:off x="8524875" y="2286000"/>
            <a:ext cx="2981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A Billy button</a:t>
            </a:r>
          </a:p>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on the product page</a:t>
            </a:r>
          </a:p>
        </p:txBody>
      </p:sp>
      <p:sp>
        <p:nvSpPr>
          <p:cNvPr id="5" name="Preview the garment,">
            <a:extLst xmlns:a="http://schemas.openxmlformats.org/drawingml/2006/main">
              <a:ext uri="{FF2B5EF4-FFF2-40B4-BE49-F238E27FC236}">
                <a16:creationId xmlns:a16="http://schemas.microsoft.com/office/drawing/2014/main" id="{45FB372C-EF87-42C3-9982-71A50F714F99}"/>
              </a:ext>
            </a:extLst>
          </p:cNvPr>
          <p:cNvSpPr>
            <a:spLocks xmlns:a="http://schemas.openxmlformats.org/drawingml/2006/main" noGrp="1"/>
          </p:cNvSpPr>
          <p:nvPr/>
        </p:nvSpPr>
        <p:spPr>
          <a:xfrm xmlns:a="http://schemas.openxmlformats.org/drawingml/2006/main">
            <a:off x="8524875" y="3952875"/>
            <a:ext cx="29813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Preview the garment,</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then add it to the</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shop’s own bag</a:t>
            </a:r>
          </a:p>
        </p:txBody>
      </p:sp>
      <p:sp>
        <p:nvSpPr>
          <p:cNvPr id="6" name="Fictional stock.">
            <a:extLst xmlns:a="http://schemas.openxmlformats.org/drawingml/2006/main">
              <a:ext uri="{FF2B5EF4-FFF2-40B4-BE49-F238E27FC236}">
                <a16:creationId xmlns:a16="http://schemas.microsoft.com/office/drawing/2014/main" id="{2D832C83-4ACF-4384-BD67-B2B0688628F6}"/>
              </a:ext>
            </a:extLst>
          </p:cNvPr>
          <p:cNvSpPr>
            <a:spLocks xmlns:a="http://schemas.openxmlformats.org/drawingml/2006/main" noGrp="1"/>
          </p:cNvSpPr>
          <p:nvPr/>
        </p:nvSpPr>
        <p:spPr>
          <a:xfrm xmlns:a="http://schemas.openxmlformats.org/drawingml/2006/main">
            <a:off x="8524875" y="5810250"/>
            <a:ext cx="2981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5F5A"/>
                </a:solidFill>
                <a:latin typeface="Arial"/>
                <a:ea typeface="Arial"/>
                <a:cs typeface="Arial"/>
              </a:defRPr>
            </a:defPPr>
          </a:lstStyle>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Fictional stock.</a:t>
            </a:r>
          </a:p>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Checkout is disabled.</a:t>
            </a:r>
          </a:p>
        </p:txBody>
      </p:sp>
    </p:spTree>
    <p:extLst>
      <p:ext uri="{BB962C8B-B14F-4D97-AF65-F5344CB8AC3E}">
        <p14:creationId xmlns:p14="http://schemas.microsoft.com/office/powerpoint/2010/main" val="1106419707"/>
      </p:ext>
    </p:extLst>
  </p:cSld>
</p:sld>
</file>

<file path=ppt/slides/slide6.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6" name="Deciding">
            <a:extLst xmlns:a="http://schemas.openxmlformats.org/drawingml/2006/main">
              <a:ext uri="{FF2B5EF4-FFF2-40B4-BE49-F238E27FC236}">
                <a16:creationId xmlns:a16="http://schemas.microsoft.com/office/drawing/2014/main" id="{48153AEC-0FB9-4B7A-99EC-B58542699981}"/>
              </a:ext>
            </a:extLst>
          </p:cNvPr>
          <p:cNvSpPr>
            <a:spLocks xmlns:a="http://schemas.openxmlformats.org/drawingml/2006/main" noGrp="1"/>
          </p:cNvSpPr>
          <p:nvPr/>
        </p:nvSpPr>
        <p:spPr>
          <a:xfrm xmlns:a="http://schemas.openxmlformats.org/drawingml/2006/main">
            <a:off x="685800" y="866775"/>
            <a:ext cx="40195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41413"/>
                </a:solidFill>
                <a:latin typeface="Arial"/>
                <a:ea typeface="Arial"/>
                <a:cs typeface="Arial"/>
              </a:defRPr>
            </a:defPPr>
          </a:lstStyle>
          <a:p xmlns:a="http://schemas.openxmlformats.org/drawingml/2006/main">
            <a:pPr>
              <a:defRPr sz="3900" b="1">
                <a:solidFill>
                  <a:srgbClr val="141413"/>
                </a:solidFill>
                <a:latin typeface="Arial"/>
                <a:ea typeface="Arial"/>
                <a:cs typeface="Arial"/>
              </a:defRPr>
            </a:pPr>
            <a:r>
              <a:rPr sz="3900" b="1">
                <a:solidFill>
                  <a:srgbClr val="141413"/>
                </a:solidFill>
                <a:latin typeface="Arial"/>
                <a:ea typeface="Arial"/>
                <a:cs typeface="Arial"/>
              </a:rPr>
              <a:t>Deciding</a:t>
            </a:r>
          </a:p>
          <a:p xmlns:a="http://schemas.openxmlformats.org/drawingml/2006/main">
            <a:pPr>
              <a:defRPr sz="3900" b="1">
                <a:solidFill>
                  <a:srgbClr val="141413"/>
                </a:solidFill>
                <a:latin typeface="Arial"/>
                <a:ea typeface="Arial"/>
                <a:cs typeface="Arial"/>
              </a:defRPr>
            </a:pPr>
            <a:r>
              <a:rPr sz="3900" b="1">
                <a:solidFill>
                  <a:srgbClr val="141413"/>
                </a:solidFill>
                <a:latin typeface="Arial"/>
                <a:ea typeface="Arial"/>
                <a:cs typeface="Arial"/>
              </a:rPr>
              <a:t>before buying</a:t>
            </a:r>
          </a:p>
        </p:txBody>
      </p:sp>
      <p:sp>
        <p:nvSpPr>
          <p:cNvPr id="2" name="Would you buy it?">
            <a:extLst xmlns:a="http://schemas.openxmlformats.org/drawingml/2006/main">
              <a:ext uri="{FF2B5EF4-FFF2-40B4-BE49-F238E27FC236}">
                <a16:creationId xmlns:a16="http://schemas.microsoft.com/office/drawing/2014/main" id="{27B49A3E-4AD7-4506-AB05-3DBA13D84C81}"/>
              </a:ext>
            </a:extLst>
          </p:cNvPr>
          <p:cNvSpPr>
            <a:spLocks xmlns:a="http://schemas.openxmlformats.org/drawingml/2006/main" noGrp="1"/>
          </p:cNvSpPr>
          <p:nvPr/>
        </p:nvSpPr>
        <p:spPr>
          <a:xfrm xmlns:a="http://schemas.openxmlformats.org/drawingml/2006/main">
            <a:off x="685800" y="27717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C2401F"/>
                </a:solidFill>
                <a:latin typeface="Arial"/>
                <a:ea typeface="Arial"/>
                <a:cs typeface="Arial"/>
              </a:defRPr>
            </a:defPPr>
          </a:lstStyle>
          <a:p xmlns:a="http://schemas.openxmlformats.org/drawingml/2006/main">
            <a:pPr>
              <a:defRPr sz="2400" b="1">
                <a:solidFill>
                  <a:srgbClr val="C2401F"/>
                </a:solidFill>
                <a:latin typeface="Arial"/>
                <a:ea typeface="Arial"/>
                <a:cs typeface="Arial"/>
              </a:defRPr>
            </a:pPr>
            <a:r>
              <a:rPr sz="2400" b="1">
                <a:solidFill>
                  <a:srgbClr val="C2401F"/>
                </a:solidFill>
                <a:latin typeface="Arial"/>
                <a:ea typeface="Arial"/>
                <a:cs typeface="Arial"/>
              </a:rPr>
              <a:t>Would you buy it?</a:t>
            </a:r>
          </a:p>
        </p:txBody>
      </p:sp>
      <p:sp>
        <p:nvSpPr>
          <p:cNvPr id="3" name="Save a look and">
            <a:extLst xmlns:a="http://schemas.openxmlformats.org/drawingml/2006/main">
              <a:ext uri="{FF2B5EF4-FFF2-40B4-BE49-F238E27FC236}">
                <a16:creationId xmlns:a16="http://schemas.microsoft.com/office/drawing/2014/main" id="{7C67E9EE-E2F0-48E8-88CC-640046ACA2AD}"/>
              </a:ext>
            </a:extLst>
          </p:cNvPr>
          <p:cNvSpPr>
            <a:spLocks xmlns:a="http://schemas.openxmlformats.org/drawingml/2006/main" noGrp="1"/>
          </p:cNvSpPr>
          <p:nvPr/>
        </p:nvSpPr>
        <p:spPr>
          <a:xfrm xmlns:a="http://schemas.openxmlformats.org/drawingml/2006/main">
            <a:off x="685800" y="3505200"/>
            <a:ext cx="38957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1413"/>
                </a:solidFill>
                <a:latin typeface="Arial"/>
                <a:ea typeface="Arial"/>
                <a:cs typeface="Arial"/>
              </a:defRPr>
            </a:defPPr>
          </a:lstStyle>
          <a:p xmlns:a="http://schemas.openxmlformats.org/drawingml/2006/main">
            <a:pPr>
              <a:defRPr sz="2175" b="0">
                <a:solidFill>
                  <a:srgbClr val="141413"/>
                </a:solidFill>
                <a:latin typeface="Arial"/>
                <a:ea typeface="Arial"/>
                <a:cs typeface="Arial"/>
              </a:defRPr>
            </a:pPr>
            <a:r>
              <a:rPr sz="2175" b="0">
                <a:solidFill>
                  <a:srgbClr val="141413"/>
                </a:solidFill>
                <a:latin typeface="Arial"/>
                <a:ea typeface="Arial"/>
                <a:cs typeface="Arial"/>
              </a:rPr>
              <a:t>Save a look and</a:t>
            </a:r>
          </a:p>
          <a:p xmlns:a="http://schemas.openxmlformats.org/drawingml/2006/main">
            <a:pPr>
              <a:defRPr sz="2175" b="0">
                <a:solidFill>
                  <a:srgbClr val="141413"/>
                </a:solidFill>
                <a:latin typeface="Arial"/>
                <a:ea typeface="Arial"/>
                <a:cs typeface="Arial"/>
              </a:defRPr>
            </a:pPr>
            <a:r>
              <a:rPr sz="2175" b="0">
                <a:solidFill>
                  <a:srgbClr val="141413"/>
                </a:solidFill>
                <a:latin typeface="Arial"/>
                <a:ea typeface="Arial"/>
                <a:cs typeface="Arial"/>
              </a:rPr>
              <a:t>record your verdict.</a:t>
            </a:r>
          </a:p>
          <a:p xmlns:a="http://schemas.openxmlformats.org/drawingml/2006/main">
            <a:r>
              <a:t/>
            </a:r>
          </a:p>
          <a:p xmlns:a="http://schemas.openxmlformats.org/drawingml/2006/main">
            <a:pPr>
              <a:defRPr sz="2175" b="0">
                <a:solidFill>
                  <a:srgbClr val="141413"/>
                </a:solidFill>
                <a:latin typeface="Arial"/>
                <a:ea typeface="Arial"/>
                <a:cs typeface="Arial"/>
              </a:defRPr>
            </a:pPr>
            <a:r>
              <a:rPr sz="2175" b="0">
                <a:solidFill>
                  <a:srgbClr val="141413"/>
                </a:solidFill>
                <a:latin typeface="Arial"/>
                <a:ea typeface="Arial"/>
                <a:cs typeface="Arial"/>
              </a:rPr>
              <a:t>Compare two options</a:t>
            </a:r>
          </a:p>
          <a:p xmlns:a="http://schemas.openxmlformats.org/drawingml/2006/main">
            <a:pPr>
              <a:defRPr sz="2175" b="0">
                <a:solidFill>
                  <a:srgbClr val="141413"/>
                </a:solidFill>
                <a:latin typeface="Arial"/>
                <a:ea typeface="Arial"/>
                <a:cs typeface="Arial"/>
              </a:defRPr>
            </a:pPr>
            <a:r>
              <a:rPr sz="2175" b="0">
                <a:solidFill>
                  <a:srgbClr val="141413"/>
                </a:solidFill>
                <a:latin typeface="Arial"/>
                <a:ea typeface="Arial"/>
                <a:cs typeface="Arial"/>
              </a:rPr>
              <a:t>side by side.</a:t>
            </a:r>
          </a:p>
        </p:txBody>
      </p:sp>
      <p:pic>
        <p:nvPicPr>
          <p:cNvPr id="4" name="">
            <a:extLst xmlns:a="http://schemas.openxmlformats.org/drawingml/2006/main">
              <a:ext uri="{FF2B5EF4-FFF2-40B4-BE49-F238E27FC236}">
                <a16:creationId xmlns:a16="http://schemas.microsoft.com/office/drawing/2014/main" id="{DAE202EC-9580-496F-882B-EC89C47E8AC9}"/>
              </a:ext>
            </a:extLst>
          </p:cNvPr>
          <p:cNvPicPr>
            <a:picLocks xmlns:a="http://schemas.openxmlformats.org/drawingml/2006/main" noChangeAspect="1"/>
          </p:cNvPicPr>
          <p:nvPr/>
        </p:nvPicPr>
        <p:blipFill>
          <a:blip xmlns:r="http://schemas.openxmlformats.org/officeDocument/2006/relationships" xmlns:a="http://schemas.openxmlformats.org/drawingml/2006/main" r:embed="R109fb01edced4f29"/>
          <a:stretch xmlns:a="http://schemas.openxmlformats.org/drawingml/2006/main"/>
        </p:blipFill>
        <p:spPr>
          <a:xfrm xmlns:a="http://schemas.openxmlformats.org/drawingml/2006/main">
            <a:off x="5048250" y="651013"/>
            <a:ext cx="6477000" cy="5632174"/>
          </a:xfrm>
          <a:prstGeom xmlns:a="http://schemas.openxmlformats.org/drawingml/2006/main" prst="roundRect">
            <a:avLst>
              <a:gd name="adj" fmla="val 2703"/>
            </a:avLst>
          </a:prstGeom>
        </p:spPr>
      </p:pic>
      <p:sp>
        <p:nvSpPr>
          <p:cNvPr id="5" name="Demo looks and example verdicts">
            <a:extLst xmlns:a="http://schemas.openxmlformats.org/drawingml/2006/main">
              <a:ext uri="{FF2B5EF4-FFF2-40B4-BE49-F238E27FC236}">
                <a16:creationId xmlns:a16="http://schemas.microsoft.com/office/drawing/2014/main" id="{8FAF6CC7-155F-45D9-AB17-C2A61ACE3675}"/>
              </a:ext>
            </a:extLst>
          </p:cNvPr>
          <p:cNvSpPr>
            <a:spLocks xmlns:a="http://schemas.openxmlformats.org/drawingml/2006/main" noGrp="1"/>
          </p:cNvSpPr>
          <p:nvPr/>
        </p:nvSpPr>
        <p:spPr>
          <a:xfrm xmlns:a="http://schemas.openxmlformats.org/drawingml/2006/main">
            <a:off x="5048250" y="6419850"/>
            <a:ext cx="6438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5F5A"/>
                </a:solidFill>
                <a:latin typeface="Arial"/>
                <a:ea typeface="Arial"/>
                <a:cs typeface="Arial"/>
              </a:defRPr>
            </a:defPPr>
          </a:lstStyle>
          <a:p xmlns:a="http://schemas.openxmlformats.org/drawingml/2006/main">
            <a:pPr>
              <a:defRPr sz="1350" b="0">
                <a:solidFill>
                  <a:srgbClr val="5F5F5A"/>
                </a:solidFill>
                <a:latin typeface="Arial"/>
                <a:ea typeface="Arial"/>
                <a:cs typeface="Arial"/>
              </a:defRPr>
            </a:pPr>
            <a:r>
              <a:rPr sz="1350" b="0">
                <a:solidFill>
                  <a:srgbClr val="5F5F5A"/>
                </a:solidFill>
                <a:latin typeface="Arial"/>
                <a:ea typeface="Arial"/>
                <a:cs typeface="Arial"/>
              </a:rPr>
              <a:t>Demo looks and example verdicts</a:t>
            </a:r>
          </a:p>
        </p:txBody>
      </p:sp>
    </p:spTree>
    <p:extLst>
      <p:ext uri="{BB962C8B-B14F-4D97-AF65-F5344CB8AC3E}">
        <p14:creationId xmlns:p14="http://schemas.microsoft.com/office/powerpoint/2010/main" val="1657032578"/>
      </p:ext>
    </p:extLst>
  </p:cSld>
</p:sld>
</file>

<file path=ppt/slides/slide7.xml><?xml version="1.0" encoding="utf-8"?>
<p:sld xmlns:p="http://schemas.openxmlformats.org/presentationml/2006/main">
  <p:cSld>
    <p:bg>
      <p:bgPr>
        <a:solidFill xmlns:a="http://schemas.openxmlformats.org/drawingml/2006/main">
          <a:srgbClr val="C2401F"/>
        </a:solidFill>
      </p:bgPr>
    </p:bg>
    <p:spTree>
      <p:nvGrpSpPr>
        <p:cNvPr id="1" name=""/>
        <p:cNvGrpSpPr/>
        <p:nvPr/>
      </p:nvGrpSpPr>
      <p:grpSpPr>
        <a:xfrm xmlns:a="http://schemas.openxmlformats.org/drawingml/2006/main"/>
      </p:grpSpPr>
      <p:sp>
        <p:nvSpPr>
          <p:cNvPr id="8" name="SDG 12 and reuse">
            <a:extLst xmlns:a="http://schemas.openxmlformats.org/drawingml/2006/main">
              <a:ext uri="{FF2B5EF4-FFF2-40B4-BE49-F238E27FC236}">
                <a16:creationId xmlns:a16="http://schemas.microsoft.com/office/drawing/2014/main" id="{459BCBAA-4070-4F98-9138-BEB7A03666A6}"/>
              </a:ext>
            </a:extLst>
          </p:cNvPr>
          <p:cNvSpPr>
            <a:spLocks xmlns:a="http://schemas.openxmlformats.org/drawingml/2006/main" noGrp="1"/>
          </p:cNvSpPr>
          <p:nvPr/>
        </p:nvSpPr>
        <p:spPr>
          <a:xfrm xmlns:a="http://schemas.openxmlformats.org/drawingml/2006/main">
            <a:off x="685800" y="619125"/>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AFAF8"/>
                </a:solidFill>
                <a:latin typeface="Arial"/>
                <a:ea typeface="Arial"/>
                <a:cs typeface="Arial"/>
              </a:defRPr>
            </a:defPPr>
          </a:lstStyle>
          <a:p xmlns:a="http://schemas.openxmlformats.org/drawingml/2006/main">
            <a:pPr>
              <a:defRPr sz="3900" b="1">
                <a:solidFill>
                  <a:srgbClr val="FAFAF8"/>
                </a:solidFill>
                <a:latin typeface="Arial"/>
                <a:ea typeface="Arial"/>
                <a:cs typeface="Arial"/>
              </a:defRPr>
            </a:pPr>
            <a:r>
              <a:rPr sz="3900" b="1">
                <a:solidFill>
                  <a:srgbClr val="FAFAF8"/>
                </a:solidFill>
                <a:latin typeface="Arial"/>
                <a:ea typeface="Arial"/>
                <a:cs typeface="Arial"/>
              </a:rPr>
              <a:t>SDG 12 and reuse</a:t>
            </a:r>
          </a:p>
        </p:txBody>
      </p:sp>
      <p:sp>
        <p:nvSpPr>
          <p:cNvPr id="2" name="12.5">
            <a:extLst xmlns:a="http://schemas.openxmlformats.org/drawingml/2006/main">
              <a:ext uri="{FF2B5EF4-FFF2-40B4-BE49-F238E27FC236}">
                <a16:creationId xmlns:a16="http://schemas.microsoft.com/office/drawing/2014/main" id="{1A9EA8A8-5E88-42F7-9E20-B22F6EFDFB9C}"/>
              </a:ext>
            </a:extLst>
          </p:cNvPr>
          <p:cNvSpPr>
            <a:spLocks xmlns:a="http://schemas.openxmlformats.org/drawingml/2006/main" noGrp="1"/>
          </p:cNvSpPr>
          <p:nvPr/>
        </p:nvSpPr>
        <p:spPr>
          <a:xfrm xmlns:a="http://schemas.openxmlformats.org/drawingml/2006/main">
            <a:off x="685800" y="2066925"/>
            <a:ext cx="4333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450" b="1">
                <a:solidFill>
                  <a:srgbClr val="FAFAF8"/>
                </a:solidFill>
                <a:latin typeface="Arial"/>
                <a:ea typeface="Arial"/>
                <a:cs typeface="Arial"/>
              </a:defRPr>
            </a:defPPr>
          </a:lstStyle>
          <a:p xmlns:a="http://schemas.openxmlformats.org/drawingml/2006/main">
            <a:pPr>
              <a:defRPr sz="9450" b="1">
                <a:solidFill>
                  <a:srgbClr val="FAFAF8"/>
                </a:solidFill>
                <a:latin typeface="Arial"/>
                <a:ea typeface="Arial"/>
                <a:cs typeface="Arial"/>
              </a:defRPr>
            </a:pPr>
            <a:r>
              <a:rPr sz="9450" b="1">
                <a:solidFill>
                  <a:srgbClr val="FAFAF8"/>
                </a:solidFill>
                <a:latin typeface="Arial"/>
                <a:ea typeface="Arial"/>
                <a:cs typeface="Arial"/>
              </a:rPr>
              <a:t>12.5</a:t>
            </a:r>
          </a:p>
        </p:txBody>
      </p:sp>
      <p:sp>
        <p:nvSpPr>
          <p:cNvPr id="3" name="Reduce waste">
            <a:extLst xmlns:a="http://schemas.openxmlformats.org/drawingml/2006/main">
              <a:ext uri="{FF2B5EF4-FFF2-40B4-BE49-F238E27FC236}">
                <a16:creationId xmlns:a16="http://schemas.microsoft.com/office/drawing/2014/main" id="{2492F32B-4FDB-4A13-9A3D-23B289B908CB}"/>
              </a:ext>
            </a:extLst>
          </p:cNvPr>
          <p:cNvSpPr>
            <a:spLocks xmlns:a="http://schemas.openxmlformats.org/drawingml/2006/main" noGrp="1"/>
          </p:cNvSpPr>
          <p:nvPr/>
        </p:nvSpPr>
        <p:spPr>
          <a:xfrm xmlns:a="http://schemas.openxmlformats.org/drawingml/2006/main">
            <a:off x="733425" y="37909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AFAF8"/>
                </a:solidFill>
                <a:latin typeface="Arial"/>
                <a:ea typeface="Arial"/>
                <a:cs typeface="Arial"/>
              </a:defRPr>
            </a:defPPr>
          </a:lstStyle>
          <a:p xmlns:a="http://schemas.openxmlformats.org/drawingml/2006/main">
            <a:pPr>
              <a:defRPr sz="3225" b="1">
                <a:solidFill>
                  <a:srgbClr val="FAFAF8"/>
                </a:solidFill>
                <a:latin typeface="Arial"/>
                <a:ea typeface="Arial"/>
                <a:cs typeface="Arial"/>
              </a:defRPr>
            </a:pPr>
            <a:r>
              <a:rPr sz="3225" b="1">
                <a:solidFill>
                  <a:srgbClr val="FAFAF8"/>
                </a:solidFill>
                <a:latin typeface="Arial"/>
                <a:ea typeface="Arial"/>
                <a:cs typeface="Arial"/>
              </a:rPr>
              <a:t>Reduce waste</a:t>
            </a:r>
          </a:p>
          <a:p xmlns:a="http://schemas.openxmlformats.org/drawingml/2006/main">
            <a:pPr>
              <a:defRPr sz="3225" b="1">
                <a:solidFill>
                  <a:srgbClr val="FAFAF8"/>
                </a:solidFill>
                <a:latin typeface="Arial"/>
                <a:ea typeface="Arial"/>
                <a:cs typeface="Arial"/>
              </a:defRPr>
            </a:pPr>
            <a:r>
              <a:rPr sz="3225" b="1">
                <a:solidFill>
                  <a:srgbClr val="FAFAF8"/>
                </a:solidFill>
                <a:latin typeface="Arial"/>
                <a:ea typeface="Arial"/>
                <a:cs typeface="Arial"/>
              </a:rPr>
              <a:t>through reuse</a:t>
            </a:r>
          </a:p>
        </p:txBody>
      </p:sp>
      <p:sp>
        <p:nvSpPr>
          <p:cNvPr id="4" name="Billy’s hypothesis">
            <a:extLst xmlns:a="http://schemas.openxmlformats.org/drawingml/2006/main">
              <a:ext uri="{FF2B5EF4-FFF2-40B4-BE49-F238E27FC236}">
                <a16:creationId xmlns:a16="http://schemas.microsoft.com/office/drawing/2014/main" id="{D252FB59-CFE5-4B29-AB5A-A7D25F01A974}"/>
              </a:ext>
            </a:extLst>
          </p:cNvPr>
          <p:cNvSpPr>
            <a:spLocks xmlns:a="http://schemas.openxmlformats.org/drawingml/2006/main" noGrp="1"/>
          </p:cNvSpPr>
          <p:nvPr/>
        </p:nvSpPr>
        <p:spPr>
          <a:xfrm xmlns:a="http://schemas.openxmlformats.org/drawingml/2006/main">
            <a:off x="6105525" y="2276475"/>
            <a:ext cx="536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AFAF8"/>
                </a:solidFill>
                <a:latin typeface="Arial"/>
                <a:ea typeface="Arial"/>
                <a:cs typeface="Arial"/>
              </a:defRPr>
            </a:defPPr>
          </a:lstStyle>
          <a:p xmlns:a="http://schemas.openxmlformats.org/drawingml/2006/main">
            <a:pPr>
              <a:defRPr sz="2475" b="1">
                <a:solidFill>
                  <a:srgbClr val="FAFAF8"/>
                </a:solidFill>
                <a:latin typeface="Arial"/>
                <a:ea typeface="Arial"/>
                <a:cs typeface="Arial"/>
              </a:defRPr>
            </a:pPr>
            <a:r>
              <a:rPr sz="2475" b="1">
                <a:solidFill>
                  <a:srgbClr val="FAFAF8"/>
                </a:solidFill>
                <a:latin typeface="Arial"/>
                <a:ea typeface="Arial"/>
                <a:cs typeface="Arial"/>
              </a:rPr>
              <a:t>Billy’s hypothesis</a:t>
            </a:r>
          </a:p>
        </p:txBody>
      </p:sp>
      <p:sp>
        <p:nvSpPr>
          <p:cNvPr id="5" name="A clearer preview may help shoppers">
            <a:extLst xmlns:a="http://schemas.openxmlformats.org/drawingml/2006/main">
              <a:ext uri="{FF2B5EF4-FFF2-40B4-BE49-F238E27FC236}">
                <a16:creationId xmlns:a16="http://schemas.microsoft.com/office/drawing/2014/main" id="{0F0E312D-C5F9-451D-9A78-8DEE7B8398F9}"/>
              </a:ext>
            </a:extLst>
          </p:cNvPr>
          <p:cNvSpPr>
            <a:spLocks xmlns:a="http://schemas.openxmlformats.org/drawingml/2006/main" noGrp="1"/>
          </p:cNvSpPr>
          <p:nvPr/>
        </p:nvSpPr>
        <p:spPr>
          <a:xfrm xmlns:a="http://schemas.openxmlformats.org/drawingml/2006/main">
            <a:off x="6105525" y="3038475"/>
            <a:ext cx="54006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AFAF8"/>
                </a:solidFill>
                <a:latin typeface="Arial"/>
                <a:ea typeface="Arial"/>
                <a:cs typeface="Arial"/>
              </a:defRPr>
            </a:defPPr>
          </a:lstStyle>
          <a:p xmlns:a="http://schemas.openxmlformats.org/drawingml/2006/main">
            <a:pPr>
              <a:defRPr sz="2175" b="0">
                <a:solidFill>
                  <a:srgbClr val="FAFAF8"/>
                </a:solidFill>
                <a:latin typeface="Arial"/>
                <a:ea typeface="Arial"/>
                <a:cs typeface="Arial"/>
              </a:defRPr>
            </a:pPr>
            <a:r>
              <a:rPr sz="2175" b="0">
                <a:solidFill>
                  <a:srgbClr val="FAFAF8"/>
                </a:solidFill>
                <a:latin typeface="Arial"/>
                <a:ea typeface="Arial"/>
                <a:cs typeface="Arial"/>
              </a:rPr>
              <a:t>A clearer preview may help shoppers</a:t>
            </a:r>
          </a:p>
          <a:p xmlns:a="http://schemas.openxmlformats.org/drawingml/2006/main">
            <a:pPr>
              <a:defRPr sz="2175" b="0">
                <a:solidFill>
                  <a:srgbClr val="FAFAF8"/>
                </a:solidFill>
                <a:latin typeface="Arial"/>
                <a:ea typeface="Arial"/>
                <a:cs typeface="Arial"/>
              </a:defRPr>
            </a:pPr>
            <a:r>
              <a:rPr sz="2175" b="0">
                <a:solidFill>
                  <a:srgbClr val="FAFAF8"/>
                </a:solidFill>
                <a:latin typeface="Arial"/>
                <a:ea typeface="Arial"/>
                <a:cs typeface="Arial"/>
              </a:rPr>
              <a:t>choose pre-loved or surplus clothing</a:t>
            </a:r>
          </a:p>
          <a:p xmlns:a="http://schemas.openxmlformats.org/drawingml/2006/main">
            <a:pPr>
              <a:defRPr sz="2175" b="0">
                <a:solidFill>
                  <a:srgbClr val="FAFAF8"/>
                </a:solidFill>
                <a:latin typeface="Arial"/>
                <a:ea typeface="Arial"/>
                <a:cs typeface="Arial"/>
              </a:defRPr>
            </a:pPr>
            <a:r>
              <a:rPr sz="2175" b="0">
                <a:solidFill>
                  <a:srgbClr val="FAFAF8"/>
                </a:solidFill>
                <a:latin typeface="Arial"/>
                <a:ea typeface="Arial"/>
                <a:cs typeface="Arial"/>
              </a:rPr>
              <a:t>they would otherwise pass over.</a:t>
            </a:r>
          </a:p>
        </p:txBody>
      </p:sp>
      <p:sp>
        <p:nvSpPr>
          <p:cNvPr id="6" name="Reuse and waste reduction are goals.">
            <a:extLst xmlns:a="http://schemas.openxmlformats.org/drawingml/2006/main">
              <a:ext uri="{FF2B5EF4-FFF2-40B4-BE49-F238E27FC236}">
                <a16:creationId xmlns:a16="http://schemas.microsoft.com/office/drawing/2014/main" id="{55FF97C4-3E8A-4550-9218-8150C037DD06}"/>
              </a:ext>
            </a:extLst>
          </p:cNvPr>
          <p:cNvSpPr>
            <a:spLocks xmlns:a="http://schemas.openxmlformats.org/drawingml/2006/main" noGrp="1"/>
          </p:cNvSpPr>
          <p:nvPr/>
        </p:nvSpPr>
        <p:spPr>
          <a:xfrm xmlns:a="http://schemas.openxmlformats.org/drawingml/2006/main">
            <a:off x="6105525" y="5162550"/>
            <a:ext cx="5362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AFAF8"/>
                </a:solidFill>
                <a:latin typeface="Arial"/>
                <a:ea typeface="Arial"/>
                <a:cs typeface="Arial"/>
              </a:defRPr>
            </a:defPPr>
          </a:lstStyle>
          <a:p xmlns:a="http://schemas.openxmlformats.org/drawingml/2006/main">
            <a:pPr>
              <a:defRPr sz="1725" b="0">
                <a:solidFill>
                  <a:srgbClr val="FAFAF8"/>
                </a:solidFill>
                <a:latin typeface="Arial"/>
                <a:ea typeface="Arial"/>
                <a:cs typeface="Arial"/>
              </a:defRPr>
            </a:pPr>
            <a:r>
              <a:rPr sz="1725" b="0">
                <a:solidFill>
                  <a:srgbClr val="FAFAF8"/>
                </a:solidFill>
                <a:latin typeface="Arial"/>
                <a:ea typeface="Arial"/>
                <a:cs typeface="Arial"/>
              </a:rPr>
              <a:t>Reuse and waste reduction are goals.</a:t>
            </a:r>
          </a:p>
          <a:p xmlns:a="http://schemas.openxmlformats.org/drawingml/2006/main">
            <a:pPr>
              <a:defRPr sz="1725" b="0">
                <a:solidFill>
                  <a:srgbClr val="FAFAF8"/>
                </a:solidFill>
                <a:latin typeface="Arial"/>
                <a:ea typeface="Arial"/>
                <a:cs typeface="Arial"/>
              </a:defRPr>
            </a:pPr>
            <a:r>
              <a:rPr sz="1725" b="0">
                <a:solidFill>
                  <a:srgbClr val="FAFAF8"/>
                </a:solidFill>
                <a:latin typeface="Arial"/>
                <a:ea typeface="Arial"/>
                <a:cs typeface="Arial"/>
              </a:rPr>
              <a:t>Billy has not measured environmental impact.</a:t>
            </a:r>
          </a:p>
        </p:txBody>
      </p:sp>
      <p:sp>
        <p:nvSpPr>
          <p:cNvPr id="7" name="UN SDG 12, target 12.5">
            <a:extLst xmlns:a="http://schemas.openxmlformats.org/drawingml/2006/main">
              <a:ext uri="{FF2B5EF4-FFF2-40B4-BE49-F238E27FC236}">
                <a16:creationId xmlns:a16="http://schemas.microsoft.com/office/drawing/2014/main" id="{34072F32-B439-4953-A5DC-072C32D716B1}"/>
              </a:ext>
            </a:extLst>
          </p:cNvPr>
          <p:cNvSpPr>
            <a:spLocks xmlns:a="http://schemas.openxmlformats.org/drawingml/2006/main" noGrp="1"/>
          </p:cNvSpPr>
          <p:nvPr/>
        </p:nvSpPr>
        <p:spPr>
          <a:xfrm xmlns:a="http://schemas.openxmlformats.org/drawingml/2006/main">
            <a:off x="723900" y="6410325"/>
            <a:ext cx="500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FAFAF8"/>
                </a:solidFill>
                <a:latin typeface="Arial"/>
                <a:ea typeface="Arial"/>
                <a:cs typeface="Arial"/>
              </a:defRPr>
            </a:defPPr>
          </a:lstStyle>
          <a:p xmlns:a="http://schemas.openxmlformats.org/drawingml/2006/main">
            <a:pPr>
              <a:defRPr sz="1350" b="0">
                <a:solidFill>
                  <a:srgbClr val="FAFAF8"/>
                </a:solidFill>
                <a:latin typeface="Arial"/>
                <a:ea typeface="Arial"/>
                <a:cs typeface="Arial"/>
              </a:defRPr>
            </a:pPr>
            <a:r>
              <a:rPr sz="1350" b="0">
                <a:solidFill>
                  <a:srgbClr val="FAFAF8"/>
                </a:solidFill>
                <a:latin typeface="Arial"/>
                <a:ea typeface="Arial"/>
                <a:cs typeface="Arial"/>
              </a:rPr>
              <a:t>UN SDG 12, target 12.5</a:t>
            </a:r>
          </a:p>
        </p:txBody>
      </p:sp>
    </p:spTree>
    <p:extLst>
      <p:ext uri="{BB962C8B-B14F-4D97-AF65-F5344CB8AC3E}">
        <p14:creationId xmlns:p14="http://schemas.microsoft.com/office/powerpoint/2010/main" val="1909134501"/>
      </p:ext>
    </p:extLst>
  </p:cSld>
</p:sld>
</file>

<file path=ppt/slides/slide8.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12" name="What works today">
            <a:extLst xmlns:a="http://schemas.openxmlformats.org/drawingml/2006/main">
              <a:ext uri="{FF2B5EF4-FFF2-40B4-BE49-F238E27FC236}">
                <a16:creationId xmlns:a16="http://schemas.microsoft.com/office/drawing/2014/main" id="{A3972B2F-4DB5-4AEB-A7C8-5A56B97B48E1}"/>
              </a:ext>
            </a:extLst>
          </p:cNvPr>
          <p:cNvSpPr>
            <a:spLocks xmlns:a="http://schemas.openxmlformats.org/drawingml/2006/main" noGrp="1"/>
          </p:cNvSpPr>
          <p:nvPr/>
        </p:nvSpPr>
        <p:spPr>
          <a:xfrm xmlns:a="http://schemas.openxmlformats.org/drawingml/2006/main">
            <a:off x="685800" y="666750"/>
            <a:ext cx="7400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41413"/>
                </a:solidFill>
                <a:latin typeface="Arial"/>
                <a:ea typeface="Arial"/>
                <a:cs typeface="Arial"/>
              </a:defRPr>
            </a:defPPr>
          </a:lstStyle>
          <a:p xmlns:a="http://schemas.openxmlformats.org/drawingml/2006/main">
            <a:pPr>
              <a:defRPr sz="3900" b="1">
                <a:solidFill>
                  <a:srgbClr val="141413"/>
                </a:solidFill>
                <a:latin typeface="Arial"/>
                <a:ea typeface="Arial"/>
                <a:cs typeface="Arial"/>
              </a:defRPr>
            </a:pPr>
            <a:r>
              <a:rPr sz="3900" b="1">
                <a:solidFill>
                  <a:srgbClr val="141413"/>
                </a:solidFill>
                <a:latin typeface="Arial"/>
                <a:ea typeface="Arial"/>
                <a:cs typeface="Arial"/>
              </a:rPr>
              <a:t>What works today</a:t>
            </a:r>
          </a:p>
        </p:txBody>
      </p:sp>
      <p:sp>
        <p:nvSpPr>
          <p:cNvPr id="2" name="Quick and Detailed previews">
            <a:extLst xmlns:a="http://schemas.openxmlformats.org/drawingml/2006/main">
              <a:ext uri="{FF2B5EF4-FFF2-40B4-BE49-F238E27FC236}">
                <a16:creationId xmlns:a16="http://schemas.microsoft.com/office/drawing/2014/main" id="{E595B156-CB4E-4F0C-A133-12473CD81A09}"/>
              </a:ext>
            </a:extLst>
          </p:cNvPr>
          <p:cNvSpPr>
            <a:spLocks xmlns:a="http://schemas.openxmlformats.org/drawingml/2006/main" noGrp="1"/>
          </p:cNvSpPr>
          <p:nvPr/>
        </p:nvSpPr>
        <p:spPr>
          <a:xfrm xmlns:a="http://schemas.openxmlformats.org/drawingml/2006/main">
            <a:off x="685800" y="1676400"/>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Quick and Detailed previews</a:t>
            </a:r>
          </a:p>
        </p:txBody>
      </p:sp>
      <p:sp>
        <p:nvSpPr>
          <p:cNvPr id="3" name="Select a render quality with streamed previews.">
            <a:extLst xmlns:a="http://schemas.openxmlformats.org/drawingml/2006/main">
              <a:ext uri="{FF2B5EF4-FFF2-40B4-BE49-F238E27FC236}">
                <a16:creationId xmlns:a16="http://schemas.microsoft.com/office/drawing/2014/main" id="{A38A25BF-76A1-46B4-B251-086F7A304471}"/>
              </a:ext>
            </a:extLst>
          </p:cNvPr>
          <p:cNvSpPr>
            <a:spLocks xmlns:a="http://schemas.openxmlformats.org/drawingml/2006/main" noGrp="1"/>
          </p:cNvSpPr>
          <p:nvPr/>
        </p:nvSpPr>
        <p:spPr>
          <a:xfrm xmlns:a="http://schemas.openxmlformats.org/drawingml/2006/main">
            <a:off x="685800" y="2143125"/>
            <a:ext cx="701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5F5A"/>
                </a:solidFill>
                <a:latin typeface="Arial"/>
                <a:ea typeface="Arial"/>
                <a:cs typeface="Arial"/>
              </a:defRPr>
            </a:defPPr>
          </a:lstStyle>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Select a render quality with streamed previews.</a:t>
            </a:r>
          </a:p>
        </p:txBody>
      </p:sp>
      <p:sp>
        <p:nvSpPr>
          <p:cNvPr id="4" name="Outfit layering and saved looks">
            <a:extLst xmlns:a="http://schemas.openxmlformats.org/drawingml/2006/main">
              <a:ext uri="{FF2B5EF4-FFF2-40B4-BE49-F238E27FC236}">
                <a16:creationId xmlns:a16="http://schemas.microsoft.com/office/drawing/2014/main" id="{849DA5F4-044E-44AE-95A6-14CDD9A7A71A}"/>
              </a:ext>
            </a:extLst>
          </p:cNvPr>
          <p:cNvSpPr>
            <a:spLocks xmlns:a="http://schemas.openxmlformats.org/drawingml/2006/main" noGrp="1"/>
          </p:cNvSpPr>
          <p:nvPr/>
        </p:nvSpPr>
        <p:spPr>
          <a:xfrm xmlns:a="http://schemas.openxmlformats.org/drawingml/2006/main">
            <a:off x="685800" y="2857500"/>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Outfit layering and saved looks</a:t>
            </a:r>
          </a:p>
        </p:txBody>
      </p:sp>
      <p:sp>
        <p:nvSpPr>
          <p:cNvPr id="5" name="Keep pieces on, then compare or share a look.">
            <a:extLst xmlns:a="http://schemas.openxmlformats.org/drawingml/2006/main">
              <a:ext uri="{FF2B5EF4-FFF2-40B4-BE49-F238E27FC236}">
                <a16:creationId xmlns:a16="http://schemas.microsoft.com/office/drawing/2014/main" id="{F9DDD329-EA75-4D8F-8F33-6ACC03D9C5B1}"/>
              </a:ext>
            </a:extLst>
          </p:cNvPr>
          <p:cNvSpPr>
            <a:spLocks xmlns:a="http://schemas.openxmlformats.org/drawingml/2006/main" noGrp="1"/>
          </p:cNvSpPr>
          <p:nvPr/>
        </p:nvSpPr>
        <p:spPr>
          <a:xfrm xmlns:a="http://schemas.openxmlformats.org/drawingml/2006/main">
            <a:off x="685800" y="3324225"/>
            <a:ext cx="701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5F5A"/>
                </a:solidFill>
                <a:latin typeface="Arial"/>
                <a:ea typeface="Arial"/>
                <a:cs typeface="Arial"/>
              </a:defRPr>
            </a:defPPr>
          </a:lstStyle>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Keep pieces on, then compare or share a look.</a:t>
            </a:r>
          </a:p>
        </p:txBody>
      </p:sp>
      <p:sp>
        <p:nvSpPr>
          <p:cNvPr id="6" name="Studio, extension and demo shop">
            <a:extLst xmlns:a="http://schemas.openxmlformats.org/drawingml/2006/main">
              <a:ext uri="{FF2B5EF4-FFF2-40B4-BE49-F238E27FC236}">
                <a16:creationId xmlns:a16="http://schemas.microsoft.com/office/drawing/2014/main" id="{D9A192F8-1448-4010-9D62-A7065467D8FC}"/>
              </a:ext>
            </a:extLst>
          </p:cNvPr>
          <p:cNvSpPr>
            <a:spLocks xmlns:a="http://schemas.openxmlformats.org/drawingml/2006/main" noGrp="1"/>
          </p:cNvSpPr>
          <p:nvPr/>
        </p:nvSpPr>
        <p:spPr>
          <a:xfrm xmlns:a="http://schemas.openxmlformats.org/drawingml/2006/main">
            <a:off x="685800" y="4038600"/>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Studio, extension and demo shop</a:t>
            </a:r>
          </a:p>
        </p:txBody>
      </p:sp>
      <p:sp>
        <p:nvSpPr>
          <p:cNvPr id="7" name="Try-on in Billy or inside the demo retailer.">
            <a:extLst xmlns:a="http://schemas.openxmlformats.org/drawingml/2006/main">
              <a:ext uri="{FF2B5EF4-FFF2-40B4-BE49-F238E27FC236}">
                <a16:creationId xmlns:a16="http://schemas.microsoft.com/office/drawing/2014/main" id="{13DC8AE2-175A-4F4F-8C79-C92169A180BF}"/>
              </a:ext>
            </a:extLst>
          </p:cNvPr>
          <p:cNvSpPr>
            <a:spLocks xmlns:a="http://schemas.openxmlformats.org/drawingml/2006/main" noGrp="1"/>
          </p:cNvSpPr>
          <p:nvPr/>
        </p:nvSpPr>
        <p:spPr>
          <a:xfrm xmlns:a="http://schemas.openxmlformats.org/drawingml/2006/main">
            <a:off x="685800" y="4505325"/>
            <a:ext cx="701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5F5A"/>
                </a:solidFill>
                <a:latin typeface="Arial"/>
                <a:ea typeface="Arial"/>
                <a:cs typeface="Arial"/>
              </a:defRPr>
            </a:defPPr>
          </a:lstStyle>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Try-on in Billy or inside the demo retailer.</a:t>
            </a:r>
          </a:p>
        </p:txBody>
      </p:sp>
      <p:sp>
        <p:nvSpPr>
          <p:cNvPr id="8" name="Optional live mirror">
            <a:extLst xmlns:a="http://schemas.openxmlformats.org/drawingml/2006/main">
              <a:ext uri="{FF2B5EF4-FFF2-40B4-BE49-F238E27FC236}">
                <a16:creationId xmlns:a16="http://schemas.microsoft.com/office/drawing/2014/main" id="{6C31C671-DF77-4E52-B06F-7B5D293A672D}"/>
              </a:ext>
            </a:extLst>
          </p:cNvPr>
          <p:cNvSpPr>
            <a:spLocks xmlns:a="http://schemas.openxmlformats.org/drawingml/2006/main" noGrp="1"/>
          </p:cNvSpPr>
          <p:nvPr/>
        </p:nvSpPr>
        <p:spPr>
          <a:xfrm xmlns:a="http://schemas.openxmlformats.org/drawingml/2006/main">
            <a:off x="685800" y="5219700"/>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3"/>
                </a:solidFill>
                <a:latin typeface="Arial"/>
                <a:ea typeface="Arial"/>
                <a:cs typeface="Arial"/>
              </a:defRPr>
            </a:defPPr>
          </a:lstStyle>
          <a:p xmlns:a="http://schemas.openxmlformats.org/drawingml/2006/main">
            <a:pPr>
              <a:defRPr sz="2175" b="1">
                <a:solidFill>
                  <a:srgbClr val="141413"/>
                </a:solidFill>
                <a:latin typeface="Arial"/>
                <a:ea typeface="Arial"/>
                <a:cs typeface="Arial"/>
              </a:defRPr>
            </a:pPr>
            <a:r>
              <a:rPr sz="2175" b="1">
                <a:solidFill>
                  <a:srgbClr val="141413"/>
                </a:solidFill>
                <a:latin typeface="Arial"/>
                <a:ea typeface="Arial"/>
                <a:cs typeface="Arial"/>
              </a:rPr>
              <a:t>Optional live mirror</a:t>
            </a:r>
          </a:p>
        </p:txBody>
      </p:sp>
      <p:sp>
        <p:nvSpPr>
          <p:cNvPr id="9" name="Off on the live site.">
            <a:extLst xmlns:a="http://schemas.openxmlformats.org/drawingml/2006/main">
              <a:ext uri="{FF2B5EF4-FFF2-40B4-BE49-F238E27FC236}">
                <a16:creationId xmlns:a16="http://schemas.microsoft.com/office/drawing/2014/main" id="{061C0108-CBDC-4411-BF93-26B294AA5249}"/>
              </a:ext>
            </a:extLst>
          </p:cNvPr>
          <p:cNvSpPr>
            <a:spLocks xmlns:a="http://schemas.openxmlformats.org/drawingml/2006/main" noGrp="1"/>
          </p:cNvSpPr>
          <p:nvPr/>
        </p:nvSpPr>
        <p:spPr>
          <a:xfrm xmlns:a="http://schemas.openxmlformats.org/drawingml/2006/main">
            <a:off x="685800" y="5686425"/>
            <a:ext cx="701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F5F5A"/>
                </a:solidFill>
                <a:latin typeface="Arial"/>
                <a:ea typeface="Arial"/>
                <a:cs typeface="Arial"/>
              </a:defRPr>
            </a:defPPr>
          </a:lstStyle>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Off on the live site.</a:t>
            </a:r>
          </a:p>
          <a:p xmlns:a="http://schemas.openxmlformats.org/drawingml/2006/main">
            <a:pPr>
              <a:defRPr sz="1800" b="0">
                <a:solidFill>
                  <a:srgbClr val="5F5F5A"/>
                </a:solidFill>
                <a:latin typeface="Arial"/>
                <a:ea typeface="Arial"/>
                <a:cs typeface="Arial"/>
              </a:defRPr>
            </a:pPr>
            <a:r>
              <a:rPr sz="1800" b="0">
                <a:solidFill>
                  <a:srgbClr val="5F5F5A"/>
                </a:solidFill>
                <a:latin typeface="Arial"/>
                <a:ea typeface="Arial"/>
                <a:cs typeface="Arial"/>
              </a:rPr>
              <a:t>A real Decart session still needs testing.</a:t>
            </a:r>
          </a:p>
        </p:txBody>
      </p:sp>
      <p:pic>
        <p:nvPicPr>
          <p:cNvPr id="10" name="">
            <a:extLst xmlns:a="http://schemas.openxmlformats.org/drawingml/2006/main">
              <a:ext uri="{FF2B5EF4-FFF2-40B4-BE49-F238E27FC236}">
                <a16:creationId xmlns:a16="http://schemas.microsoft.com/office/drawing/2014/main" id="{E8CFB1AF-F92C-4136-85F4-3DC05C412575}"/>
              </a:ext>
            </a:extLst>
          </p:cNvPr>
          <p:cNvPicPr>
            <a:picLocks xmlns:a="http://schemas.openxmlformats.org/drawingml/2006/main" noChangeAspect="1"/>
          </p:cNvPicPr>
          <p:nvPr/>
        </p:nvPicPr>
        <p:blipFill>
          <a:blip xmlns:r="http://schemas.openxmlformats.org/officeDocument/2006/relationships" xmlns:a="http://schemas.openxmlformats.org/drawingml/2006/main" r:embed="R40b8be8bf354447d"/>
          <a:stretch xmlns:a="http://schemas.openxmlformats.org/drawingml/2006/main"/>
        </p:blipFill>
        <p:spPr>
          <a:xfrm xmlns:a="http://schemas.openxmlformats.org/drawingml/2006/main">
            <a:off x="8630647" y="561975"/>
            <a:ext cx="2693581" cy="5791200"/>
          </a:xfrm>
          <a:prstGeom xmlns:a="http://schemas.openxmlformats.org/drawingml/2006/main" prst="rect">
            <a:avLst/>
          </a:prstGeom>
        </p:spPr>
      </p:pic>
      <p:sp>
        <p:nvSpPr>
          <p:cNvPr id="11" name="Demo stock. Visual fit is approximate.">
            <a:extLst xmlns:a="http://schemas.openxmlformats.org/drawingml/2006/main">
              <a:ext uri="{FF2B5EF4-FFF2-40B4-BE49-F238E27FC236}">
                <a16:creationId xmlns:a16="http://schemas.microsoft.com/office/drawing/2014/main" id="{54BCB82F-C85C-4180-82F1-DF6E74EF7DB5}"/>
              </a:ext>
            </a:extLst>
          </p:cNvPr>
          <p:cNvSpPr>
            <a:spLocks xmlns:a="http://schemas.openxmlformats.org/drawingml/2006/main" noGrp="1"/>
          </p:cNvSpPr>
          <p:nvPr/>
        </p:nvSpPr>
        <p:spPr>
          <a:xfrm xmlns:a="http://schemas.openxmlformats.org/drawingml/2006/main">
            <a:off x="685800" y="65151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F5F5A"/>
                </a:solidFill>
                <a:latin typeface="Arial"/>
                <a:ea typeface="Arial"/>
                <a:cs typeface="Arial"/>
              </a:defRPr>
            </a:defPPr>
          </a:lstStyle>
          <a:p xmlns:a="http://schemas.openxmlformats.org/drawingml/2006/main">
            <a:pPr>
              <a:defRPr sz="1350" b="0">
                <a:solidFill>
                  <a:srgbClr val="5F5F5A"/>
                </a:solidFill>
                <a:latin typeface="Arial"/>
                <a:ea typeface="Arial"/>
                <a:cs typeface="Arial"/>
              </a:defRPr>
            </a:pPr>
            <a:r>
              <a:rPr sz="1350" b="0">
                <a:solidFill>
                  <a:srgbClr val="5F5F5A"/>
                </a:solidFill>
                <a:latin typeface="Arial"/>
                <a:ea typeface="Arial"/>
                <a:cs typeface="Arial"/>
              </a:rPr>
              <a:t>Demo stock. Visual fit is approximate.</a:t>
            </a:r>
          </a:p>
        </p:txBody>
      </p:sp>
    </p:spTree>
    <p:extLst>
      <p:ext uri="{BB962C8B-B14F-4D97-AF65-F5344CB8AC3E}">
        <p14:creationId xmlns:p14="http://schemas.microsoft.com/office/powerpoint/2010/main" val="1545384093"/>
      </p:ext>
    </p:extLst>
  </p:cSld>
</p:sld>
</file>

<file path=ppt/slides/slide9.xml><?xml version="1.0" encoding="utf-8"?>
<p:sld xmlns:p="http://schemas.openxmlformats.org/presentationml/2006/main">
  <p:cSld>
    <p:bg>
      <p:bgPr>
        <a:solidFill xmlns:a="http://schemas.openxmlformats.org/drawingml/2006/main">
          <a:srgbClr val="F3F3F1"/>
        </a:solidFill>
      </p:bgPr>
    </p:bg>
    <p:spTree>
      <p:nvGrpSpPr>
        <p:cNvPr id="1" name=""/>
        <p:cNvGrpSpPr/>
        <p:nvPr/>
      </p:nvGrpSpPr>
      <p:grpSpPr>
        <a:xfrm xmlns:a="http://schemas.openxmlformats.org/drawingml/2006/main"/>
      </p:grpSpPr>
      <p:sp>
        <p:nvSpPr>
          <p:cNvPr id="11" name="Purchase confidence pilot">
            <a:extLst xmlns:a="http://schemas.openxmlformats.org/drawingml/2006/main">
              <a:ext uri="{FF2B5EF4-FFF2-40B4-BE49-F238E27FC236}">
                <a16:creationId xmlns:a16="http://schemas.microsoft.com/office/drawing/2014/main" id="{88ED236B-68C6-4458-9AD6-0FBDA09F68E5}"/>
              </a:ext>
            </a:extLst>
          </p:cNvPr>
          <p:cNvSpPr>
            <a:spLocks xmlns:a="http://schemas.openxmlformats.org/drawingml/2006/main" noGrp="1"/>
          </p:cNvSpPr>
          <p:nvPr/>
        </p:nvSpPr>
        <p:spPr>
          <a:xfrm xmlns:a="http://schemas.openxmlformats.org/drawingml/2006/main">
            <a:off x="685800" y="63817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141413"/>
                </a:solidFill>
                <a:latin typeface="Arial"/>
                <a:ea typeface="Arial"/>
                <a:cs typeface="Arial"/>
              </a:defRPr>
            </a:defPPr>
          </a:lstStyle>
          <a:p xmlns:a="http://schemas.openxmlformats.org/drawingml/2006/main">
            <a:pPr>
              <a:defRPr sz="3750" b="1">
                <a:solidFill>
                  <a:srgbClr val="141413"/>
                </a:solidFill>
                <a:latin typeface="Arial"/>
                <a:ea typeface="Arial"/>
                <a:cs typeface="Arial"/>
              </a:defRPr>
            </a:pPr>
            <a:r>
              <a:rPr sz="3750" b="1">
                <a:solidFill>
                  <a:srgbClr val="141413"/>
                </a:solidFill>
                <a:latin typeface="Arial"/>
                <a:ea typeface="Arial"/>
                <a:cs typeface="Arial"/>
              </a:rPr>
              <a:t>Purchase confidence pilot</a:t>
            </a:r>
          </a:p>
        </p:txBody>
      </p:sp>
      <p:sp>
        <p:nvSpPr>
          <p:cNvPr id="2" name="Proposed study">
            <a:extLst xmlns:a="http://schemas.openxmlformats.org/drawingml/2006/main">
              <a:ext uri="{FF2B5EF4-FFF2-40B4-BE49-F238E27FC236}">
                <a16:creationId xmlns:a16="http://schemas.microsoft.com/office/drawing/2014/main" id="{44A234F0-BC3A-4858-80A1-D7F654878D2A}"/>
              </a:ext>
            </a:extLst>
          </p:cNvPr>
          <p:cNvSpPr>
            <a:spLocks xmlns:a="http://schemas.openxmlformats.org/drawingml/2006/main" noGrp="1"/>
          </p:cNvSpPr>
          <p:nvPr/>
        </p:nvSpPr>
        <p:spPr>
          <a:xfrm xmlns:a="http://schemas.openxmlformats.org/drawingml/2006/main">
            <a:off x="685800" y="1390650"/>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C2401F"/>
                </a:solidFill>
                <a:latin typeface="Arial"/>
                <a:ea typeface="Arial"/>
                <a:cs typeface="Arial"/>
              </a:defRPr>
            </a:defPPr>
          </a:lstStyle>
          <a:p xmlns:a="http://schemas.openxmlformats.org/drawingml/2006/main">
            <a:pPr>
              <a:defRPr sz="1950" b="0">
                <a:solidFill>
                  <a:srgbClr val="C2401F"/>
                </a:solidFill>
                <a:latin typeface="Arial"/>
                <a:ea typeface="Arial"/>
                <a:cs typeface="Arial"/>
              </a:defRPr>
            </a:pPr>
            <a:r>
              <a:rPr sz="1950" b="0">
                <a:solidFill>
                  <a:srgbClr val="C2401F"/>
                </a:solidFill>
                <a:latin typeface="Arial"/>
                <a:ea typeface="Arial"/>
                <a:cs typeface="Arial"/>
              </a:rPr>
              <a:t>Proposed study</a:t>
            </a:r>
          </a:p>
        </p:txBody>
      </p:sp>
      <p:sp>
        <p:nvSpPr>
          <p:cNvPr id="3" name="12 shoppers">
            <a:extLst xmlns:a="http://schemas.openxmlformats.org/drawingml/2006/main">
              <a:ext uri="{FF2B5EF4-FFF2-40B4-BE49-F238E27FC236}">
                <a16:creationId xmlns:a16="http://schemas.microsoft.com/office/drawing/2014/main" id="{E84F6FED-1693-4A0D-8A8B-B5F2E49CA7B4}"/>
              </a:ext>
            </a:extLst>
          </p:cNvPr>
          <p:cNvSpPr>
            <a:spLocks xmlns:a="http://schemas.openxmlformats.org/drawingml/2006/main" noGrp="1"/>
          </p:cNvSpPr>
          <p:nvPr/>
        </p:nvSpPr>
        <p:spPr>
          <a:xfrm xmlns:a="http://schemas.openxmlformats.org/drawingml/2006/main">
            <a:off x="685800" y="2466975"/>
            <a:ext cx="335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1413"/>
                </a:solidFill>
                <a:latin typeface="Arial"/>
                <a:ea typeface="Arial"/>
                <a:cs typeface="Arial"/>
              </a:defRPr>
            </a:defPPr>
          </a:lstStyle>
          <a:p xmlns:a="http://schemas.openxmlformats.org/drawingml/2006/main">
            <a:pPr>
              <a:defRPr sz="3450" b="1">
                <a:solidFill>
                  <a:srgbClr val="141413"/>
                </a:solidFill>
                <a:latin typeface="Arial"/>
                <a:ea typeface="Arial"/>
                <a:cs typeface="Arial"/>
              </a:defRPr>
            </a:pPr>
            <a:r>
              <a:rPr sz="3450" b="1">
                <a:solidFill>
                  <a:srgbClr val="141413"/>
                </a:solidFill>
                <a:latin typeface="Arial"/>
                <a:ea typeface="Arial"/>
                <a:cs typeface="Arial"/>
              </a:rPr>
              <a:t>12 shoppers</a:t>
            </a:r>
          </a:p>
        </p:txBody>
      </p:sp>
      <p:sp>
        <p:nvSpPr>
          <p:cNvPr id="4" name="People already shopping">
            <a:extLst xmlns:a="http://schemas.openxmlformats.org/drawingml/2006/main">
              <a:ext uri="{FF2B5EF4-FFF2-40B4-BE49-F238E27FC236}">
                <a16:creationId xmlns:a16="http://schemas.microsoft.com/office/drawing/2014/main" id="{27C9F09E-5E7F-4FD6-BE33-EFF0352AE369}"/>
              </a:ext>
            </a:extLst>
          </p:cNvPr>
          <p:cNvSpPr>
            <a:spLocks xmlns:a="http://schemas.openxmlformats.org/drawingml/2006/main" noGrp="1"/>
          </p:cNvSpPr>
          <p:nvPr/>
        </p:nvSpPr>
        <p:spPr>
          <a:xfrm xmlns:a="http://schemas.openxmlformats.org/drawingml/2006/main">
            <a:off x="685800" y="3400425"/>
            <a:ext cx="33432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People already shopping</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for pre-loved clothing.</a:t>
            </a:r>
          </a:p>
        </p:txBody>
      </p:sp>
      <p:sp>
        <p:nvSpPr>
          <p:cNvPr id="5" name="3 garments">
            <a:extLst xmlns:a="http://schemas.openxmlformats.org/drawingml/2006/main">
              <a:ext uri="{FF2B5EF4-FFF2-40B4-BE49-F238E27FC236}">
                <a16:creationId xmlns:a16="http://schemas.microsoft.com/office/drawing/2014/main" id="{A523DA64-2561-40CD-B3CA-FED3BFED47A8}"/>
              </a:ext>
            </a:extLst>
          </p:cNvPr>
          <p:cNvSpPr>
            <a:spLocks xmlns:a="http://schemas.openxmlformats.org/drawingml/2006/main" noGrp="1"/>
          </p:cNvSpPr>
          <p:nvPr/>
        </p:nvSpPr>
        <p:spPr>
          <a:xfrm xmlns:a="http://schemas.openxmlformats.org/drawingml/2006/main">
            <a:off x="4467225" y="2466975"/>
            <a:ext cx="335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1413"/>
                </a:solidFill>
                <a:latin typeface="Arial"/>
                <a:ea typeface="Arial"/>
                <a:cs typeface="Arial"/>
              </a:defRPr>
            </a:defPPr>
          </a:lstStyle>
          <a:p xmlns:a="http://schemas.openxmlformats.org/drawingml/2006/main">
            <a:pPr>
              <a:defRPr sz="3450" b="1">
                <a:solidFill>
                  <a:srgbClr val="141413"/>
                </a:solidFill>
                <a:latin typeface="Arial"/>
                <a:ea typeface="Arial"/>
                <a:cs typeface="Arial"/>
              </a:defRPr>
            </a:pPr>
            <a:r>
              <a:rPr sz="3450" b="1">
                <a:solidFill>
                  <a:srgbClr val="141413"/>
                </a:solidFill>
                <a:latin typeface="Arial"/>
                <a:ea typeface="Arial"/>
                <a:cs typeface="Arial"/>
              </a:rPr>
              <a:t>3 garments</a:t>
            </a:r>
          </a:p>
        </p:txBody>
      </p:sp>
      <p:sp>
        <p:nvSpPr>
          <p:cNvPr id="6" name="The same listings with">
            <a:extLst xmlns:a="http://schemas.openxmlformats.org/drawingml/2006/main">
              <a:ext uri="{FF2B5EF4-FFF2-40B4-BE49-F238E27FC236}">
                <a16:creationId xmlns:a16="http://schemas.microsoft.com/office/drawing/2014/main" id="{B7B911DA-979D-4DCF-B4FB-5FDC61080351}"/>
              </a:ext>
            </a:extLst>
          </p:cNvPr>
          <p:cNvSpPr>
            <a:spLocks xmlns:a="http://schemas.openxmlformats.org/drawingml/2006/main" noGrp="1"/>
          </p:cNvSpPr>
          <p:nvPr/>
        </p:nvSpPr>
        <p:spPr>
          <a:xfrm xmlns:a="http://schemas.openxmlformats.org/drawingml/2006/main">
            <a:off x="4467225" y="3400425"/>
            <a:ext cx="33432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The same listings with</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and without a preview.</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Alternate the order.</a:t>
            </a:r>
          </a:p>
        </p:txBody>
      </p:sp>
      <p:sp>
        <p:nvSpPr>
          <p:cNvPr id="7" name="1 to 5 rating">
            <a:extLst xmlns:a="http://schemas.openxmlformats.org/drawingml/2006/main">
              <a:ext uri="{FF2B5EF4-FFF2-40B4-BE49-F238E27FC236}">
                <a16:creationId xmlns:a16="http://schemas.microsoft.com/office/drawing/2014/main" id="{10108B6B-37C7-44A8-8712-9A42976322D5}"/>
              </a:ext>
            </a:extLst>
          </p:cNvPr>
          <p:cNvSpPr>
            <a:spLocks xmlns:a="http://schemas.openxmlformats.org/drawingml/2006/main" noGrp="1"/>
          </p:cNvSpPr>
          <p:nvPr/>
        </p:nvSpPr>
        <p:spPr>
          <a:xfrm xmlns:a="http://schemas.openxmlformats.org/drawingml/2006/main">
            <a:off x="8248650" y="2466975"/>
            <a:ext cx="335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1413"/>
                </a:solidFill>
                <a:latin typeface="Arial"/>
                <a:ea typeface="Arial"/>
                <a:cs typeface="Arial"/>
              </a:defRPr>
            </a:defPPr>
          </a:lstStyle>
          <a:p xmlns:a="http://schemas.openxmlformats.org/drawingml/2006/main">
            <a:pPr>
              <a:defRPr sz="3450" b="1">
                <a:solidFill>
                  <a:srgbClr val="141413"/>
                </a:solidFill>
                <a:latin typeface="Arial"/>
                <a:ea typeface="Arial"/>
                <a:cs typeface="Arial"/>
              </a:defRPr>
            </a:pPr>
            <a:r>
              <a:rPr sz="3450" b="1">
                <a:solidFill>
                  <a:srgbClr val="141413"/>
                </a:solidFill>
                <a:latin typeface="Arial"/>
                <a:ea typeface="Arial"/>
                <a:cs typeface="Arial"/>
              </a:rPr>
              <a:t>1 to 5 rating</a:t>
            </a:r>
          </a:p>
        </p:txBody>
      </p:sp>
      <p:sp>
        <p:nvSpPr>
          <p:cNvPr id="8" name="Confidence in the choice,">
            <a:extLst xmlns:a="http://schemas.openxmlformats.org/drawingml/2006/main">
              <a:ext uri="{FF2B5EF4-FFF2-40B4-BE49-F238E27FC236}">
                <a16:creationId xmlns:a16="http://schemas.microsoft.com/office/drawing/2014/main" id="{EF577FBB-683A-4749-95B0-B5351818F817}"/>
              </a:ext>
            </a:extLst>
          </p:cNvPr>
          <p:cNvSpPr>
            <a:spLocks xmlns:a="http://schemas.openxmlformats.org/drawingml/2006/main" noGrp="1"/>
          </p:cNvSpPr>
          <p:nvPr/>
        </p:nvSpPr>
        <p:spPr>
          <a:xfrm xmlns:a="http://schemas.openxmlformats.org/drawingml/2006/main">
            <a:off x="8248650" y="3400425"/>
            <a:ext cx="33432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1413"/>
                </a:solidFill>
                <a:latin typeface="Arial"/>
                <a:ea typeface="Arial"/>
                <a:cs typeface="Arial"/>
              </a:defRPr>
            </a:defPPr>
          </a:lstStyle>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Confidence in the choice,</a:t>
            </a:r>
          </a:p>
          <a:p xmlns:a="http://schemas.openxmlformats.org/drawingml/2006/main">
            <a:pPr>
              <a:defRPr sz="2100" b="0">
                <a:solidFill>
                  <a:srgbClr val="141413"/>
                </a:solidFill>
                <a:latin typeface="Arial"/>
                <a:ea typeface="Arial"/>
                <a:cs typeface="Arial"/>
              </a:defRPr>
            </a:pPr>
            <a:r>
              <a:rPr sz="2100" b="0">
                <a:solidFill>
                  <a:srgbClr val="141413"/>
                </a:solidFill>
                <a:latin typeface="Arial"/>
                <a:ea typeface="Arial"/>
                <a:cs typeface="Arial"/>
              </a:rPr>
              <a:t>plus a purchase verdict.</a:t>
            </a:r>
          </a:p>
        </p:txBody>
      </p:sp>
      <p:sp>
        <p:nvSpPr>
          <p:cNvPr id="9" name="Also record generation failures and time to decide.">
            <a:extLst xmlns:a="http://schemas.openxmlformats.org/drawingml/2006/main">
              <a:ext uri="{FF2B5EF4-FFF2-40B4-BE49-F238E27FC236}">
                <a16:creationId xmlns:a16="http://schemas.microsoft.com/office/drawing/2014/main" id="{D8110429-AC6C-46D4-BD20-CA251FF5CA5E}"/>
              </a:ext>
            </a:extLst>
          </p:cNvPr>
          <p:cNvSpPr>
            <a:spLocks xmlns:a="http://schemas.openxmlformats.org/drawingml/2006/main" noGrp="1"/>
          </p:cNvSpPr>
          <p:nvPr/>
        </p:nvSpPr>
        <p:spPr>
          <a:xfrm xmlns:a="http://schemas.openxmlformats.org/drawingml/2006/main">
            <a:off x="685800" y="54006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F5F5A"/>
                </a:solidFill>
                <a:latin typeface="Arial"/>
                <a:ea typeface="Arial"/>
                <a:cs typeface="Arial"/>
              </a:defRPr>
            </a:defPPr>
          </a:lstStyle>
          <a:p xmlns:a="http://schemas.openxmlformats.org/drawingml/2006/main">
            <a:pPr>
              <a:defRPr sz="2100" b="0">
                <a:solidFill>
                  <a:srgbClr val="5F5F5A"/>
                </a:solidFill>
                <a:latin typeface="Arial"/>
                <a:ea typeface="Arial"/>
                <a:cs typeface="Arial"/>
              </a:defRPr>
            </a:pPr>
            <a:r>
              <a:rPr sz="2100" b="0">
                <a:solidFill>
                  <a:srgbClr val="5F5F5A"/>
                </a:solidFill>
                <a:latin typeface="Arial"/>
                <a:ea typeface="Arial"/>
                <a:cs typeface="Arial"/>
              </a:rPr>
              <a:t>Also record generation failures and time to decide.</a:t>
            </a:r>
          </a:p>
        </p:txBody>
      </p:sp>
      <p:sp>
        <p:nvSpPr>
          <p:cNvPr id="10" name="No customer results yet">
            <a:extLst xmlns:a="http://schemas.openxmlformats.org/drawingml/2006/main">
              <a:ext uri="{FF2B5EF4-FFF2-40B4-BE49-F238E27FC236}">
                <a16:creationId xmlns:a16="http://schemas.microsoft.com/office/drawing/2014/main" id="{C707310E-136E-4C44-8618-3B0C93AC7CD8}"/>
              </a:ext>
            </a:extLst>
          </p:cNvPr>
          <p:cNvSpPr>
            <a:spLocks xmlns:a="http://schemas.openxmlformats.org/drawingml/2006/main" noGrp="1"/>
          </p:cNvSpPr>
          <p:nvPr/>
        </p:nvSpPr>
        <p:spPr>
          <a:xfrm xmlns:a="http://schemas.openxmlformats.org/drawingml/2006/main">
            <a:off x="685800" y="6334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2401F"/>
                </a:solidFill>
                <a:latin typeface="Arial"/>
                <a:ea typeface="Arial"/>
                <a:cs typeface="Arial"/>
              </a:defRPr>
            </a:defPPr>
          </a:lstStyle>
          <a:p xmlns:a="http://schemas.openxmlformats.org/drawingml/2006/main">
            <a:pPr>
              <a:defRPr sz="1650" b="0">
                <a:solidFill>
                  <a:srgbClr val="C2401F"/>
                </a:solidFill>
                <a:latin typeface="Arial"/>
                <a:ea typeface="Arial"/>
                <a:cs typeface="Arial"/>
              </a:defRPr>
            </a:pPr>
            <a:r>
              <a:rPr sz="1650" b="0">
                <a:solidFill>
                  <a:srgbClr val="C2401F"/>
                </a:solidFill>
                <a:latin typeface="Arial"/>
                <a:ea typeface="Arial"/>
                <a:cs typeface="Arial"/>
              </a:rPr>
              <a:t>No customer results yet</a:t>
            </a:r>
          </a:p>
        </p:txBody>
      </p:sp>
    </p:spTree>
    <p:extLst>
      <p:ext uri="{BB962C8B-B14F-4D97-AF65-F5344CB8AC3E}">
        <p14:creationId xmlns:p14="http://schemas.microsoft.com/office/powerpoint/2010/main" val="420176489"/>
      </p:ext>
    </p:extLst>
  </p:cSld>
</p:sld>
</file>

<file path=ppt/slides/slide10.xml><?xml version="1.0" encoding="utf-8"?>
<p:sld xmlns:p="http://schemas.openxmlformats.org/presentationml/2006/main">
  <p:cSld>
    <p:bg>
      <p:bgPr>
        <a:solidFill xmlns:a="http://schemas.openxmlformats.org/drawingml/2006/main">
          <a:srgbClr val="141413"/>
        </a:solidFill>
      </p:bgPr>
    </p:bg>
    <p:spTree>
      <p:nvGrpSpPr>
        <p:cNvPr id="1" name=""/>
        <p:cNvGrpSpPr/>
        <p:nvPr/>
      </p:nvGrpSpPr>
      <p:grpSpPr>
        <a:xfrm xmlns:a="http://schemas.openxmlformats.org/drawingml/2006/main"/>
      </p:grpSpPr>
      <p:sp>
        <p:nvSpPr>
          <p:cNvPr id="10" name="Billy demo">
            <a:extLst xmlns:a="http://schemas.openxmlformats.org/drawingml/2006/main">
              <a:ext uri="{FF2B5EF4-FFF2-40B4-BE49-F238E27FC236}">
                <a16:creationId xmlns:a16="http://schemas.microsoft.com/office/drawing/2014/main" id="{8E43C1A4-57F0-4594-9C29-A85B61C8954D}"/>
              </a:ext>
            </a:extLst>
          </p:cNvPr>
          <p:cNvSpPr>
            <a:spLocks xmlns:a="http://schemas.openxmlformats.org/drawingml/2006/main" noGrp="1"/>
          </p:cNvSpPr>
          <p:nvPr/>
        </p:nvSpPr>
        <p:spPr>
          <a:xfrm xmlns:a="http://schemas.openxmlformats.org/drawingml/2006/main">
            <a:off x="685800" y="685800"/>
            <a:ext cx="621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AFAF8"/>
                </a:solidFill>
                <a:latin typeface="Arial"/>
                <a:ea typeface="Arial"/>
                <a:cs typeface="Arial"/>
              </a:defRPr>
            </a:defPPr>
          </a:lstStyle>
          <a:p xmlns:a="http://schemas.openxmlformats.org/drawingml/2006/main">
            <a:pPr>
              <a:defRPr sz="4650" b="1">
                <a:solidFill>
                  <a:srgbClr val="FAFAF8"/>
                </a:solidFill>
                <a:latin typeface="Arial"/>
                <a:ea typeface="Arial"/>
                <a:cs typeface="Arial"/>
              </a:defRPr>
            </a:pPr>
            <a:r>
              <a:rPr sz="4650" b="1">
                <a:solidFill>
                  <a:srgbClr val="FAFAF8"/>
                </a:solidFill>
                <a:latin typeface="Arial"/>
                <a:ea typeface="Arial"/>
                <a:cs typeface="Arial"/>
              </a:rPr>
              <a:t>Billy demo</a:t>
            </a:r>
          </a:p>
        </p:txBody>
      </p:sp>
      <p:sp>
        <p:nvSpPr>
          <p:cNvPr id="2" name="Try the Studio">
            <a:extLst xmlns:a="http://schemas.openxmlformats.org/drawingml/2006/main">
              <a:ext uri="{FF2B5EF4-FFF2-40B4-BE49-F238E27FC236}">
                <a16:creationId xmlns:a16="http://schemas.microsoft.com/office/drawing/2014/main" id="{25AF2ECB-14A6-41AE-B4A7-57869648B4A7}"/>
              </a:ext>
            </a:extLst>
          </p:cNvPr>
          <p:cNvSpPr>
            <a:spLocks xmlns:a="http://schemas.openxmlformats.org/drawingml/2006/main" noGrp="1"/>
          </p:cNvSpPr>
          <p:nvPr/>
        </p:nvSpPr>
        <p:spPr>
          <a:xfrm xmlns:a="http://schemas.openxmlformats.org/drawingml/2006/main">
            <a:off x="704850" y="1981200"/>
            <a:ext cx="5772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AFAF8"/>
                </a:solidFill>
                <a:latin typeface="Arial"/>
                <a:ea typeface="Arial"/>
                <a:cs typeface="Arial"/>
              </a:defRPr>
            </a:defPPr>
          </a:lstStyle>
          <a:p xmlns:a="http://schemas.openxmlformats.org/drawingml/2006/main">
            <a:pPr>
              <a:defRPr sz="2325" b="1">
                <a:solidFill>
                  <a:srgbClr val="FAFAF8"/>
                </a:solidFill>
                <a:latin typeface="Arial"/>
                <a:ea typeface="Arial"/>
                <a:cs typeface="Arial"/>
              </a:defRPr>
            </a:pPr>
            <a:r>
              <a:rPr sz="2325" b="1">
                <a:solidFill>
                  <a:srgbClr val="FAFAF8"/>
                </a:solidFill>
                <a:latin typeface="Arial"/>
                <a:ea typeface="Arial"/>
                <a:cs typeface="Arial"/>
              </a:rPr>
              <a:t>Try the Studio</a:t>
            </a:r>
          </a:p>
        </p:txBody>
      </p:sp>
      <p:sp>
        <p:nvSpPr>
          <p:cNvPr id="3" name="billy-try-on.vercel.app/studio">
            <a:extLst xmlns:a="http://schemas.openxmlformats.org/drawingml/2006/main">
              <a:ext uri="{FF2B5EF4-FFF2-40B4-BE49-F238E27FC236}">
                <a16:creationId xmlns:a16="http://schemas.microsoft.com/office/drawing/2014/main" id="{15CFC708-261F-46F5-BD67-1906279DC2E8}"/>
              </a:ext>
            </a:extLst>
          </p:cNvPr>
          <p:cNvSpPr>
            <a:spLocks xmlns:a="http://schemas.openxmlformats.org/drawingml/2006/main" noGrp="1"/>
          </p:cNvSpPr>
          <p:nvPr/>
        </p:nvSpPr>
        <p:spPr>
          <a:xfrm xmlns:a="http://schemas.openxmlformats.org/drawingml/2006/main">
            <a:off x="704850" y="2466975"/>
            <a:ext cx="5772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AFAF8"/>
                </a:solidFill>
                <a:latin typeface="Arial"/>
                <a:ea typeface="Arial"/>
                <a:cs typeface="Arial"/>
              </a:defRPr>
            </a:defPPr>
          </a:lstStyle>
          <a:p xmlns:a="http://schemas.openxmlformats.org/drawingml/2006/main">
            <a:pPr>
              <a:defRPr sz="2100" b="0">
                <a:solidFill>
                  <a:srgbClr val="FAFAF8"/>
                </a:solidFill>
                <a:latin typeface="Arial"/>
                <a:ea typeface="Arial"/>
                <a:cs typeface="Arial"/>
              </a:defRPr>
            </a:pPr>
            <a:r>
              <a:rPr sz="2100" b="0">
                <a:solidFill>
                  <a:srgbClr val="FAFAF8"/>
                </a:solidFill>
                <a:latin typeface="Arial"/>
                <a:ea typeface="Arial"/>
                <a:cs typeface="Arial"/>
                <a:hlinkClick xmlns:r="http://schemas.openxmlformats.org/officeDocument/2006/relationships" r:id="Rc6cbc143b29644c2"/>
              </a:rPr>
              <a:t>billy-try-on.vercel.app/studio</a:t>
            </a:r>
          </a:p>
        </p:txBody>
      </p:sp>
      <p:sp>
        <p:nvSpPr>
          <p:cNvPr id="4" name="Retailer demo">
            <a:extLst xmlns:a="http://schemas.openxmlformats.org/drawingml/2006/main">
              <a:ext uri="{FF2B5EF4-FFF2-40B4-BE49-F238E27FC236}">
                <a16:creationId xmlns:a16="http://schemas.microsoft.com/office/drawing/2014/main" id="{992A20FE-D009-4F48-8F95-84BBD35E257C}"/>
              </a:ext>
            </a:extLst>
          </p:cNvPr>
          <p:cNvSpPr>
            <a:spLocks xmlns:a="http://schemas.openxmlformats.org/drawingml/2006/main" noGrp="1"/>
          </p:cNvSpPr>
          <p:nvPr/>
        </p:nvSpPr>
        <p:spPr>
          <a:xfrm xmlns:a="http://schemas.openxmlformats.org/drawingml/2006/main">
            <a:off x="704850" y="3209925"/>
            <a:ext cx="5772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AFAF8"/>
                </a:solidFill>
                <a:latin typeface="Arial"/>
                <a:ea typeface="Arial"/>
                <a:cs typeface="Arial"/>
              </a:defRPr>
            </a:defPPr>
          </a:lstStyle>
          <a:p xmlns:a="http://schemas.openxmlformats.org/drawingml/2006/main">
            <a:pPr>
              <a:defRPr sz="2325" b="1">
                <a:solidFill>
                  <a:srgbClr val="FAFAF8"/>
                </a:solidFill>
                <a:latin typeface="Arial"/>
                <a:ea typeface="Arial"/>
                <a:cs typeface="Arial"/>
              </a:defRPr>
            </a:pPr>
            <a:r>
              <a:rPr sz="2325" b="1">
                <a:solidFill>
                  <a:srgbClr val="FAFAF8"/>
                </a:solidFill>
                <a:latin typeface="Arial"/>
                <a:ea typeface="Arial"/>
                <a:cs typeface="Arial"/>
              </a:rPr>
              <a:t>Retailer demo</a:t>
            </a:r>
          </a:p>
        </p:txBody>
      </p:sp>
      <p:sp>
        <p:nvSpPr>
          <p:cNvPr id="5" name="billy-try-on.vercel.app/shop">
            <a:extLst xmlns:a="http://schemas.openxmlformats.org/drawingml/2006/main">
              <a:ext uri="{FF2B5EF4-FFF2-40B4-BE49-F238E27FC236}">
                <a16:creationId xmlns:a16="http://schemas.microsoft.com/office/drawing/2014/main" id="{4AAA77C1-4ABF-4BB1-BE67-A275E450F5D9}"/>
              </a:ext>
            </a:extLst>
          </p:cNvPr>
          <p:cNvSpPr>
            <a:spLocks xmlns:a="http://schemas.openxmlformats.org/drawingml/2006/main" noGrp="1"/>
          </p:cNvSpPr>
          <p:nvPr/>
        </p:nvSpPr>
        <p:spPr>
          <a:xfrm xmlns:a="http://schemas.openxmlformats.org/drawingml/2006/main">
            <a:off x="704850" y="3695700"/>
            <a:ext cx="5772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AFAF8"/>
                </a:solidFill>
                <a:latin typeface="Arial"/>
                <a:ea typeface="Arial"/>
                <a:cs typeface="Arial"/>
              </a:defRPr>
            </a:defPPr>
          </a:lstStyle>
          <a:p xmlns:a="http://schemas.openxmlformats.org/drawingml/2006/main">
            <a:pPr>
              <a:defRPr sz="2100" b="0">
                <a:solidFill>
                  <a:srgbClr val="FAFAF8"/>
                </a:solidFill>
                <a:latin typeface="Arial"/>
                <a:ea typeface="Arial"/>
                <a:cs typeface="Arial"/>
              </a:defRPr>
            </a:pPr>
            <a:r>
              <a:rPr sz="2100" b="0">
                <a:solidFill>
                  <a:srgbClr val="FAFAF8"/>
                </a:solidFill>
                <a:latin typeface="Arial"/>
                <a:ea typeface="Arial"/>
                <a:cs typeface="Arial"/>
                <a:hlinkClick xmlns:r="http://schemas.openxmlformats.org/officeDocument/2006/relationships" r:id="R5fd8452c61834fc3"/>
              </a:rPr>
              <a:t>billy-try-on.vercel.app/shop</a:t>
            </a:r>
          </a:p>
        </p:txBody>
      </p:sp>
      <p:sp>
        <p:nvSpPr>
          <p:cNvPr id="6" name="Chrome extension">
            <a:extLst xmlns:a="http://schemas.openxmlformats.org/drawingml/2006/main">
              <a:ext uri="{FF2B5EF4-FFF2-40B4-BE49-F238E27FC236}">
                <a16:creationId xmlns:a16="http://schemas.microsoft.com/office/drawing/2014/main" id="{E6F8C50B-4986-4377-A8D6-097A74DDDB5D}"/>
              </a:ext>
            </a:extLst>
          </p:cNvPr>
          <p:cNvSpPr>
            <a:spLocks xmlns:a="http://schemas.openxmlformats.org/drawingml/2006/main" noGrp="1"/>
          </p:cNvSpPr>
          <p:nvPr/>
        </p:nvSpPr>
        <p:spPr>
          <a:xfrm xmlns:a="http://schemas.openxmlformats.org/drawingml/2006/main">
            <a:off x="704850" y="4438650"/>
            <a:ext cx="5772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AFAF8"/>
                </a:solidFill>
                <a:latin typeface="Arial"/>
                <a:ea typeface="Arial"/>
                <a:cs typeface="Arial"/>
              </a:defRPr>
            </a:defPPr>
          </a:lstStyle>
          <a:p xmlns:a="http://schemas.openxmlformats.org/drawingml/2006/main">
            <a:pPr>
              <a:defRPr sz="2325" b="1">
                <a:solidFill>
                  <a:srgbClr val="FAFAF8"/>
                </a:solidFill>
                <a:latin typeface="Arial"/>
                <a:ea typeface="Arial"/>
                <a:cs typeface="Arial"/>
              </a:defRPr>
            </a:pPr>
            <a:r>
              <a:rPr sz="2325" b="1">
                <a:solidFill>
                  <a:srgbClr val="FAFAF8"/>
                </a:solidFill>
                <a:latin typeface="Arial"/>
                <a:ea typeface="Arial"/>
                <a:cs typeface="Arial"/>
              </a:rPr>
              <a:t>Chrome extension</a:t>
            </a:r>
          </a:p>
        </p:txBody>
      </p:sp>
      <p:sp>
        <p:nvSpPr>
          <p:cNvPr id="7" name="billy-try-on.vercel.app/extension">
            <a:extLst xmlns:a="http://schemas.openxmlformats.org/drawingml/2006/main">
              <a:ext uri="{FF2B5EF4-FFF2-40B4-BE49-F238E27FC236}">
                <a16:creationId xmlns:a16="http://schemas.microsoft.com/office/drawing/2014/main" id="{16625C23-0E54-4281-8E18-B5FB2856014D}"/>
              </a:ext>
            </a:extLst>
          </p:cNvPr>
          <p:cNvSpPr>
            <a:spLocks xmlns:a="http://schemas.openxmlformats.org/drawingml/2006/main" noGrp="1"/>
          </p:cNvSpPr>
          <p:nvPr/>
        </p:nvSpPr>
        <p:spPr>
          <a:xfrm xmlns:a="http://schemas.openxmlformats.org/drawingml/2006/main">
            <a:off x="704850" y="4924425"/>
            <a:ext cx="5772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AFAF8"/>
                </a:solidFill>
                <a:latin typeface="Arial"/>
                <a:ea typeface="Arial"/>
                <a:cs typeface="Arial"/>
              </a:defRPr>
            </a:defPPr>
          </a:lstStyle>
          <a:p xmlns:a="http://schemas.openxmlformats.org/drawingml/2006/main">
            <a:pPr>
              <a:defRPr sz="2100" b="0">
                <a:solidFill>
                  <a:srgbClr val="FAFAF8"/>
                </a:solidFill>
                <a:latin typeface="Arial"/>
                <a:ea typeface="Arial"/>
                <a:cs typeface="Arial"/>
              </a:defRPr>
            </a:pPr>
            <a:r>
              <a:rPr sz="2100" b="0">
                <a:solidFill>
                  <a:srgbClr val="FAFAF8"/>
                </a:solidFill>
                <a:latin typeface="Arial"/>
                <a:ea typeface="Arial"/>
                <a:cs typeface="Arial"/>
                <a:hlinkClick xmlns:r="http://schemas.openxmlformats.org/officeDocument/2006/relationships" r:id="Ra240f9cc475a42d4"/>
              </a:rPr>
              <a:t>billy-try-on.vercel.app/extension</a:t>
            </a:r>
          </a:p>
        </p:txBody>
      </p:sp>
      <p:sp>
        <p:nvSpPr>
          <p:cNvPr id="8" name="Next: a pilot with real shoppers">
            <a:extLst xmlns:a="http://schemas.openxmlformats.org/drawingml/2006/main">
              <a:ext uri="{FF2B5EF4-FFF2-40B4-BE49-F238E27FC236}">
                <a16:creationId xmlns:a16="http://schemas.microsoft.com/office/drawing/2014/main" id="{63AA5125-390A-492C-A96F-5D36738B9072}"/>
              </a:ext>
            </a:extLst>
          </p:cNvPr>
          <p:cNvSpPr>
            <a:spLocks xmlns:a="http://schemas.openxmlformats.org/drawingml/2006/main" noGrp="1"/>
          </p:cNvSpPr>
          <p:nvPr/>
        </p:nvSpPr>
        <p:spPr>
          <a:xfrm xmlns:a="http://schemas.openxmlformats.org/drawingml/2006/main">
            <a:off x="704850" y="5972175"/>
            <a:ext cx="5772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AFAF8"/>
                </a:solidFill>
                <a:latin typeface="Arial"/>
                <a:ea typeface="Arial"/>
                <a:cs typeface="Arial"/>
              </a:defRPr>
            </a:defPPr>
          </a:lstStyle>
          <a:p xmlns:a="http://schemas.openxmlformats.org/drawingml/2006/main">
            <a:pPr>
              <a:defRPr sz="2100" b="0">
                <a:solidFill>
                  <a:srgbClr val="FAFAF8"/>
                </a:solidFill>
                <a:latin typeface="Arial"/>
                <a:ea typeface="Arial"/>
                <a:cs typeface="Arial"/>
              </a:defRPr>
            </a:pPr>
            <a:r>
              <a:rPr sz="2100" b="0">
                <a:solidFill>
                  <a:srgbClr val="FAFAF8"/>
                </a:solidFill>
                <a:latin typeface="Arial"/>
                <a:ea typeface="Arial"/>
                <a:cs typeface="Arial"/>
              </a:rPr>
              <a:t>Next: a pilot with real shoppers</a:t>
            </a:r>
          </a:p>
        </p:txBody>
      </p:sp>
      <p:pic>
        <p:nvPicPr>
          <p:cNvPr id="9" name="">
            <a:extLst xmlns:a="http://schemas.openxmlformats.org/drawingml/2006/main">
              <a:ext uri="{FF2B5EF4-FFF2-40B4-BE49-F238E27FC236}">
                <a16:creationId xmlns:a16="http://schemas.microsoft.com/office/drawing/2014/main" id="{0A1F4119-BC98-41D6-8D99-B0A849E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7eeeb0437f574e28"/>
          <a:stretch xmlns:a="http://schemas.openxmlformats.org/drawingml/2006/main"/>
        </p:blipFill>
        <p:spPr>
          <a:xfrm xmlns:a="http://schemas.openxmlformats.org/drawingml/2006/main">
            <a:off x="7038975" y="511175"/>
            <a:ext cx="4362450" cy="5816600"/>
          </a:xfrm>
          <a:prstGeom xmlns:a="http://schemas.openxmlformats.org/drawingml/2006/main" prst="rect">
            <a:avLst/>
          </a:prstGeom>
        </p:spPr>
      </p:pic>
    </p:spTree>
    <p:extLst>
      <p:ext uri="{BB962C8B-B14F-4D97-AF65-F5344CB8AC3E}">
        <p14:creationId xmlns:p14="http://schemas.microsoft.com/office/powerpoint/2010/main" val="1553502258"/>
      </p:ext>
    </p:extLst>
  </p:cSld>
</p:sld>
</file>

<file path=ppt/theme/theme1.xml><?xml version="1.0" encoding="utf-8"?>
<a:theme xmlns:a="http://schemas.openxmlformats.org/drawingml/2006/main" name="ChatGPT">
  <a:themeElements>
    <a:clrScheme name="Billy">
      <a:dk1>
        <a:srgbClr val="141413"/>
      </a:dk1>
      <a:lt1>
        <a:srgbClr val="FAFAF8"/>
      </a:lt1>
      <a:dk2>
        <a:srgbClr val="5F5F5A"/>
      </a:dk2>
      <a:lt2>
        <a:srgbClr val="F3F3F1"/>
      </a:lt2>
      <a:accent1>
        <a:srgbClr val="C2401F"/>
      </a:accent1>
      <a:accent2>
        <a:srgbClr val="141413"/>
      </a:accent2>
      <a:accent3>
        <a:srgbClr val="5F5F5A"/>
      </a:accent3>
      <a:accent4>
        <a:srgbClr val="E9E9E5"/>
      </a:accent4>
      <a:accent5>
        <a:srgbClr val="F6E3DC"/>
      </a:accent5>
      <a:accent6>
        <a:srgbClr val="DCDCD7"/>
      </a:accent6>
      <a:hlink>
        <a:srgbClr val="FAFAF8"/>
      </a:hlink>
      <a:folHlink>
        <a:srgbClr val="FAFAF8"/>
      </a:folHlink>
    </a:clrScheme>
    <a:fontScheme name="">
      <a:majorFont>
        <a:latin typeface="Arial"/>
        <a:ea typeface=""/>
        <a:cs typeface=""/>
      </a:majorFont>
      <a:minorFont>
        <a:latin typeface="Arial"/>
        <a:ea typeface=""/>
        <a:cs typeface=""/>
      </a:minorFont>
    </a:fontScheme>
    <a:fmtScheme name="Bill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2026-10-09T20:03:32.0490000Z</dcterms:created>
  <dcterms:modified xsi:type="dcterms:W3CDTF">2026-10-09T20:03:32.0490000Z</dcterms:modified>
</coreProperties>
</file>